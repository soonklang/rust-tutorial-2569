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libri (MS) Bold" charset="1" panose="020F0702030404030204"/>
      <p:regular r:id="rId33"/>
    </p:embeddedFont>
    <p:embeddedFont>
      <p:font typeface="Calibri (MS)" charset="1" panose="020F0502020204030204"/>
      <p:regular r:id="rId34"/>
    </p:embeddedFont>
    <p:embeddedFont>
      <p:font typeface="Cambria Bold" charset="1" panose="02040803050406030204"/>
      <p:regular r:id="rId35"/>
    </p:embeddedFont>
    <p:embeddedFont>
      <p:font typeface="Calibri (MS) Italics" charset="1" panose="020F05020202040A0204"/>
      <p:regular r:id="rId37"/>
    </p:embeddedFont>
    <p:embeddedFont>
      <p:font typeface="Courier New" charset="1" panose="02070309020205020404"/>
      <p:regular r:id="rId39"/>
    </p:embeddedFont>
    <p:embeddedFont>
      <p:font typeface="Calibri (MS) Bold Italics" charset="1" panose="020F07020304040A0204"/>
      <p:regular r:id="rId46"/>
    </p:embeddedFont>
    <p:embeddedFont>
      <p:font typeface="Cambria" charset="1" panose="0204050305040603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Ownership is like giving your car to a friend permanently—you can't drive it anymore. Borrowing with the &amp; symbol is like just handing them the keys for the weekend. They get to use the data to calculate the length, but as you can see on line 7 of the code, we still own it and can print it out afterward.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Ownership is like giving your car to a friend permanently—you can't drive it anymore. Borrowing with the &amp; symbol is like just handing them the keys for the weekend. They get to use the data to calculate the length, but as you can see on line 7 of the code, we still own it and can print it out afterward.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Ownership is like giving your car to a friend permanently—you can't drive it anymore. Borrowing with the &amp; symbol is like just handing them the keys for the weekend. They get to use the data to calculate the length, but as you can see on line 7 of the code, we still own it and can print it out afterward.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0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1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https://doc.rust-lang.org/book/ch04-02-references-and-borrowing.html" TargetMode="External" Type="http://schemas.openxmlformats.org/officeDocument/2006/relationships/hyperlink"/><Relationship Id="rId5" Target="https://doc.rust-lang.org/book/ch04-01-what-is-ownership.html" TargetMode="External" Type="http://schemas.openxmlformats.org/officeDocument/2006/relationships/hyperlink"/><Relationship Id="rId6" Target="https://doc.rust-lang.org/reference/expressions/operator-expr.html#borrow-expressions" TargetMode="External" Type="http://schemas.openxmlformats.org/officeDocument/2006/relationships/hyperlink"/><Relationship Id="rId7" Target="https://doc.rust-lang.org/rust-by-example/scope/borrow.html" TargetMode="External" Type="http://schemas.openxmlformats.org/officeDocument/2006/relationships/hyperlink"/><Relationship Id="rId8" Target="https://github.com/Viseth101/rust-tutorial-2569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HWlii3ydk.mp4" Type="http://schemas.openxmlformats.org/officeDocument/2006/relationships/video"/><Relationship Id="rId4" Target="../media/VAHWlii3ydk.mp4" Type="http://schemas.microsoft.com/office/2007/relationships/media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A141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8B2E2E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46520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C9A227">
                <a:alpha val="588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7559116" cy="548640"/>
            <a:chOff x="0" y="0"/>
            <a:chExt cx="10078822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78822" cy="731520"/>
            </a:xfrm>
            <a:custGeom>
              <a:avLst/>
              <a:gdLst/>
              <a:ahLst/>
              <a:cxnLst/>
              <a:rect r="r" b="b" t="t" l="l"/>
              <a:pathLst>
                <a:path h="731520" w="10078822">
                  <a:moveTo>
                    <a:pt x="0" y="0"/>
                  </a:moveTo>
                  <a:lnTo>
                    <a:pt x="10078822" y="0"/>
                  </a:lnTo>
                  <a:lnTo>
                    <a:pt x="1007882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-11284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07882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7262944" cy="480060"/>
            <a:chOff x="0" y="0"/>
            <a:chExt cx="9683926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83926" cy="640080"/>
            </a:xfrm>
            <a:custGeom>
              <a:avLst/>
              <a:gdLst/>
              <a:ahLst/>
              <a:cxnLst/>
              <a:rect r="r" b="b" t="t" l="l"/>
              <a:pathLst>
                <a:path h="640080" w="9683926">
                  <a:moveTo>
                    <a:pt x="0" y="0"/>
                  </a:moveTo>
                  <a:lnTo>
                    <a:pt x="9683926" y="0"/>
                  </a:lnTo>
                  <a:lnTo>
                    <a:pt x="968392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-121519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83926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E8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030258"/>
            <a:ext cx="16088868" cy="4404792"/>
            <a:chOff x="0" y="0"/>
            <a:chExt cx="21451824" cy="5873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5873055"/>
            </a:xfrm>
            <a:custGeom>
              <a:avLst/>
              <a:gdLst/>
              <a:ahLst/>
              <a:cxnLst/>
              <a:rect r="r" b="b" t="t" l="l"/>
              <a:pathLst>
                <a:path h="5873055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5873055"/>
                  </a:lnTo>
                  <a:lnTo>
                    <a:pt x="0" y="5873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44" r="0" b="117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451824" cy="588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กลุ่ม 12  —  References &amp; Borrowing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AutoNum type="arabicPeriod" startAt="1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Mr.UDTARAKVISETH LAY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AutoNum type="arabicPeriod" startAt="1"/>
              </a:pPr>
              <a:r>
                <a:rPr lang="en-US" sz="2100" strike="sngStrik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นายกรันต์ชัย คำทรัพย์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AutoNum type="arabicPeriod" startAt="1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นางสาวณัฐณิชา ภู่วงษ์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AutoNum type="arabicPeriod" startAt="1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นายเทพพิทักษ์ นิลดำ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9B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2633544" y="7426840"/>
            <a:ext cx="2435431" cy="2626206"/>
          </a:xfrm>
          <a:custGeom>
            <a:avLst/>
            <a:gdLst/>
            <a:ahLst/>
            <a:cxnLst/>
            <a:rect r="r" b="b" t="t" l="l"/>
            <a:pathLst>
              <a:path h="2626206" w="2435431">
                <a:moveTo>
                  <a:pt x="0" y="0"/>
                </a:moveTo>
                <a:lnTo>
                  <a:pt x="2435430" y="0"/>
                </a:lnTo>
                <a:lnTo>
                  <a:pt x="2435430" y="2626206"/>
                </a:lnTo>
                <a:lnTo>
                  <a:pt x="0" y="262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6354" y="3380994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367403" y="3792474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67403" y="3792474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42094" y="4958334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42094" y="8250174"/>
            <a:ext cx="3610737" cy="411480"/>
            <a:chOff x="0" y="0"/>
            <a:chExt cx="4814316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32891" y="3380994"/>
            <a:ext cx="4022217" cy="5349240"/>
            <a:chOff x="0" y="0"/>
            <a:chExt cx="5362956" cy="7132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63940" y="3792474"/>
            <a:ext cx="960120" cy="960120"/>
            <a:chOff x="0" y="0"/>
            <a:chExt cx="1280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663940" y="3065026"/>
            <a:ext cx="960120" cy="2415015"/>
            <a:chOff x="0" y="0"/>
            <a:chExt cx="1280160" cy="32200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3220021"/>
            </a:xfrm>
            <a:custGeom>
              <a:avLst/>
              <a:gdLst/>
              <a:ahLst/>
              <a:cxnLst/>
              <a:rect r="r" b="b" t="t" l="l"/>
              <a:pathLst>
                <a:path h="3220021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3220021"/>
                  </a:lnTo>
                  <a:lnTo>
                    <a:pt x="0" y="32200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602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280160" cy="3229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38631" y="4958334"/>
            <a:ext cx="3610737" cy="411480"/>
            <a:chOff x="0" y="0"/>
            <a:chExt cx="4814316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338631" y="6781419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338631" y="8250174"/>
            <a:ext cx="3610737" cy="411480"/>
            <a:chOff x="0" y="0"/>
            <a:chExt cx="4814316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29428" y="3380994"/>
            <a:ext cx="4022217" cy="5349240"/>
            <a:chOff x="0" y="0"/>
            <a:chExt cx="5362956" cy="7132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960477" y="3792474"/>
            <a:ext cx="960120" cy="960120"/>
            <a:chOff x="0" y="0"/>
            <a:chExt cx="128016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964858" y="3065026"/>
            <a:ext cx="960120" cy="2415015"/>
            <a:chOff x="0" y="0"/>
            <a:chExt cx="1280160" cy="322002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3220021"/>
            </a:xfrm>
            <a:custGeom>
              <a:avLst/>
              <a:gdLst/>
              <a:ahLst/>
              <a:cxnLst/>
              <a:rect r="r" b="b" t="t" l="l"/>
              <a:pathLst>
                <a:path h="3220021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3220021"/>
                  </a:lnTo>
                  <a:lnTo>
                    <a:pt x="0" y="32200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602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280160" cy="3229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635168" y="4958334"/>
            <a:ext cx="3610737" cy="411480"/>
            <a:chOff x="0" y="0"/>
            <a:chExt cx="4814316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635168" y="6781419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635168" y="8250174"/>
            <a:ext cx="3610737" cy="411480"/>
            <a:chOff x="0" y="0"/>
            <a:chExt cx="4814316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8B2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3042094" y="5378196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25872" y="6781419"/>
            <a:ext cx="393079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338631" y="5378196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635168" y="5378196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22222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7706" y="178330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Immutable References (การ</a:t>
              </a: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อ้างอิงแบบอ่านอย่างเดียว)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0" y="7621020"/>
            <a:ext cx="8819388" cy="411480"/>
            <a:chOff x="0" y="0"/>
            <a:chExt cx="11759184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78240" y="8101080"/>
            <a:ext cx="8819388" cy="1508760"/>
            <a:chOff x="0" y="0"/>
            <a:chExt cx="11759184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9185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7591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49149"/>
                    <a:pt x="11759185" y="109728"/>
                  </a:cubicBezTo>
                  <a:lnTo>
                    <a:pt x="11759185" y="1901952"/>
                  </a:lnTo>
                  <a:cubicBezTo>
                    <a:pt x="11759185" y="1962531"/>
                    <a:pt x="11710036" y="2011680"/>
                    <a:pt x="11649456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541851" y="2817441"/>
            <a:ext cx="9292166" cy="4489253"/>
          </a:xfrm>
          <a:custGeom>
            <a:avLst/>
            <a:gdLst/>
            <a:ahLst/>
            <a:cxnLst/>
            <a:rect r="r" b="b" t="t" l="l"/>
            <a:pathLst>
              <a:path h="4489253" w="9292166">
                <a:moveTo>
                  <a:pt x="0" y="0"/>
                </a:moveTo>
                <a:lnTo>
                  <a:pt x="9292166" y="0"/>
                </a:lnTo>
                <a:lnTo>
                  <a:pt x="9292166" y="4489254"/>
                </a:lnTo>
                <a:lnTo>
                  <a:pt x="0" y="4489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5800" y="2356485"/>
            <a:ext cx="7680960" cy="386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Borrowing (การยืม)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การใช้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 (&amp;)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เพื่อเข้าถึงข้อมูลโดย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ไม่รับ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ช่วงความเป็น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เจ้าของ (Ownership)</a:t>
            </a:r>
          </a:p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อ่านอย่างเดียว: &amp;T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เป็นการยืมเพื่ออ่านเท่านั้น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ไม่สามารถแก้ไขข้อมูล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ต้นฉบับผ่าน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นี้ได้</a:t>
            </a:r>
          </a:p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การคืนสิทธิ์: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เมื่อฟังก์ชันทำงานจบ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Ownership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ยังคงอยู่ที่ตัวแปรต้นฉบับ และ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สามารถใช้งานต่อได้ทันที</a:t>
            </a:r>
          </a:p>
          <a:p>
            <a:pPr algn="l">
              <a:lnSpc>
                <a:spcPts val="438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121140" y="8309868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The length of '</a:t>
            </a:r>
            <a:r>
              <a:rPr lang="en-US" sz="1950">
                <a:solidFill>
                  <a:srgbClr val="4DC8B0"/>
                </a:solidFill>
                <a:latin typeface="Courier New"/>
                <a:ea typeface="Courier New"/>
                <a:cs typeface="Courier New"/>
                <a:sym typeface="Courier New"/>
              </a:rPr>
              <a:t>Sil</a:t>
            </a:r>
            <a:r>
              <a:rPr lang="en-US" sz="1950">
                <a:solidFill>
                  <a:srgbClr val="4DC8B0"/>
                </a:solidFill>
                <a:latin typeface="Courier New"/>
                <a:ea typeface="Courier New"/>
                <a:cs typeface="Courier New"/>
                <a:sym typeface="Courier New"/>
              </a:rPr>
              <a:t>pakorn</a:t>
            </a: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' is </a:t>
            </a:r>
            <a:r>
              <a:rPr lang="en-US" sz="1950">
                <a:solidFill>
                  <a:srgbClr val="4DC8B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7706" y="178330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Mutable References (การ</a:t>
              </a: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อ้างอิงแบบแก้ไขค่าได้)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0" y="7621020"/>
            <a:ext cx="8819388" cy="411480"/>
            <a:chOff x="0" y="0"/>
            <a:chExt cx="11759184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59184" cy="548640"/>
            </a:xfrm>
            <a:custGeom>
              <a:avLst/>
              <a:gdLst/>
              <a:ahLst/>
              <a:cxnLst/>
              <a:rect r="r" b="b" t="t" l="l"/>
              <a:pathLst>
                <a:path h="548640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29" r="0" b="-3676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59184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ผลลัพธ์ที่คาดหวัง (Expected Output)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78240" y="8101080"/>
            <a:ext cx="8819388" cy="1508760"/>
            <a:chOff x="0" y="0"/>
            <a:chExt cx="11759184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9185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7591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649456" y="0"/>
                  </a:lnTo>
                  <a:cubicBezTo>
                    <a:pt x="11710036" y="0"/>
                    <a:pt x="11759185" y="49149"/>
                    <a:pt x="11759185" y="109728"/>
                  </a:cubicBezTo>
                  <a:lnTo>
                    <a:pt x="11759185" y="1901952"/>
                  </a:lnTo>
                  <a:cubicBezTo>
                    <a:pt x="11759185" y="1962531"/>
                    <a:pt x="11710036" y="2011680"/>
                    <a:pt x="11649456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552717" y="2736699"/>
            <a:ext cx="9270434" cy="4336237"/>
          </a:xfrm>
          <a:custGeom>
            <a:avLst/>
            <a:gdLst/>
            <a:ahLst/>
            <a:cxnLst/>
            <a:rect r="r" b="b" t="t" l="l"/>
            <a:pathLst>
              <a:path h="4336237" w="9270434">
                <a:moveTo>
                  <a:pt x="0" y="0"/>
                </a:moveTo>
                <a:lnTo>
                  <a:pt x="9270434" y="0"/>
                </a:lnTo>
                <a:lnTo>
                  <a:pt x="9270434" y="4336238"/>
                </a:lnTo>
                <a:lnTo>
                  <a:pt x="0" y="4336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47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5800" y="2555724"/>
            <a:ext cx="7680960" cy="386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ยืมเพื่อแก้ไข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การใช้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&amp;mut T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อนุญาตให้ฟังก์ชันหรือผู้ยืม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สามารถเปลี่ยนแปลง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ข้อมูลต้นฉบับได้</a:t>
            </a:r>
          </a:p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เงื่อนไขสำคัญ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ตัวแปรเจ้าของข้อมูลต้องถูกประกาศด้วยคีย์เวิร์ด mut ก่อนถึงจะสร้าง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Mutable Reference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ได้</a:t>
            </a:r>
          </a:p>
          <a:p>
            <a:pPr algn="l" marL="443388" indent="-221694" lvl="1">
              <a:lnSpc>
                <a:spcPts val="4385"/>
              </a:lnSpc>
              <a:buFont typeface="Arial"/>
              <a:buChar char="•"/>
            </a:pPr>
            <a:r>
              <a:rPr lang="en-US" b="true" sz="244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ส่งต่อสิทธิ์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ต้องใส่ </a:t>
            </a:r>
            <a:r>
              <a:rPr lang="en-US" sz="24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&amp;mut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ทั้งตอนที่ส่งค่าเข้าฟังก์ชัน และตอนที่ประกาศรับพารามิเตอร์ในฟังก์ชัน</a:t>
            </a:r>
          </a:p>
          <a:p>
            <a:pPr algn="l">
              <a:lnSpc>
                <a:spcPts val="438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121140" y="8309868"/>
            <a:ext cx="8133588" cy="3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After b</a:t>
            </a:r>
            <a:r>
              <a:rPr lang="en-US" sz="1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orrowing mutably:</a:t>
            </a:r>
            <a:r>
              <a:rPr lang="en-US" sz="1950">
                <a:solidFill>
                  <a:srgbClr val="4DC8B0"/>
                </a:solidFill>
                <a:latin typeface="Courier New"/>
                <a:ea typeface="Courier New"/>
                <a:cs typeface="Courier New"/>
                <a:sym typeface="Courier New"/>
              </a:rPr>
              <a:t> Hello, Rust!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7706" y="178330"/>
            <a:ext cx="9231102" cy="3303594"/>
            <a:chOff x="0" y="0"/>
            <a:chExt cx="12308137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08137" cy="4404792"/>
            </a:xfrm>
            <a:custGeom>
              <a:avLst/>
              <a:gdLst/>
              <a:ahLst/>
              <a:cxnLst/>
              <a:rect r="r" b="b" t="t" l="l"/>
              <a:pathLst>
                <a:path h="4404792" w="12308137">
                  <a:moveTo>
                    <a:pt x="0" y="0"/>
                  </a:moveTo>
                  <a:lnTo>
                    <a:pt x="12308137" y="0"/>
                  </a:lnTo>
                  <a:lnTo>
                    <a:pt x="12308137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-83204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308137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Syntax และกฎของ Borrow Checker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2536674"/>
            <a:ext cx="17013734" cy="465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168" indent="-234084" lvl="1">
              <a:lnSpc>
                <a:spcPts val="4630"/>
              </a:lnSpc>
              <a:buFont typeface="Arial"/>
              <a:buChar char="•"/>
            </a:pP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Syntax พื้นฐาน:</a:t>
            </a:r>
          </a:p>
          <a:p>
            <a:pPr algn="l" marL="1117033" indent="-372344" lvl="2">
              <a:lnSpc>
                <a:spcPts val="4630"/>
              </a:lnSpc>
              <a:buFont typeface="Arial"/>
              <a:buChar char="⚬"/>
            </a:pP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&amp;T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: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ยืมค่าเพื่อ</a:t>
            </a:r>
            <a:r>
              <a:rPr lang="en-US" sz="2586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อ่านอย่างเดียว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(let ref_val = &amp;my_string;)</a:t>
            </a:r>
          </a:p>
          <a:p>
            <a:pPr algn="l" marL="1117033" indent="-372344" lvl="2">
              <a:lnSpc>
                <a:spcPts val="4630"/>
              </a:lnSpc>
              <a:buFont typeface="Arial"/>
              <a:buChar char="⚬"/>
            </a:pP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&amp;mut T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: ยืมค่า</a:t>
            </a:r>
            <a:r>
              <a:rPr lang="en-US" sz="2586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เพื่ออ่านและแก้ไข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(let mut_ref = &amp;mut my_string;)</a:t>
            </a:r>
          </a:p>
          <a:p>
            <a:pPr algn="l" marL="468168" indent="-234084" lvl="1">
              <a:lnSpc>
                <a:spcPts val="4630"/>
              </a:lnSpc>
              <a:buFont typeface="Arial"/>
              <a:buChar char="•"/>
            </a:pP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กฎข้อที่ 1 (เลือกได้อย่างเดียว)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ในเวลาเดียวกัน สามารถมี</a:t>
            </a: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&amp;mut ได้เพียง 1 ตัว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หรือ มี</a:t>
            </a: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 ได้หลายตัว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(</a:t>
            </a: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ห้ามมี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พ</a:t>
            </a:r>
            <a:r>
              <a:rPr lang="en-US" sz="2586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ร้อมกัน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เด็ดขาดเพื่อป้องกัน Data Race)</a:t>
            </a:r>
          </a:p>
          <a:p>
            <a:pPr algn="l" marL="468168" indent="-234084" lvl="1">
              <a:lnSpc>
                <a:spcPts val="4630"/>
              </a:lnSpc>
              <a:buFont typeface="Arial"/>
              <a:buChar char="•"/>
            </a:pP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กฎข้อที่ 2 (ความปลอดภัย)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 ทุกตัวต้องชี้ไปยังข้อมูลที่</a:t>
            </a:r>
            <a:r>
              <a:rPr lang="en-US" sz="2586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ยังมีชีวิตอยู่เสมอ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(Rust จะป้องกัน Dangling Reference ให้ตั้งแต่ตอน</a:t>
            </a:r>
            <a:r>
              <a:rPr lang="en-US" b="true" sz="2586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คอมไพล์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463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718750" y="422046"/>
            <a:ext cx="5540550" cy="3687331"/>
          </a:xfrm>
          <a:custGeom>
            <a:avLst/>
            <a:gdLst/>
            <a:ahLst/>
            <a:cxnLst/>
            <a:rect r="r" b="b" t="t" l="l"/>
            <a:pathLst>
              <a:path h="3687331" w="5540550">
                <a:moveTo>
                  <a:pt x="0" y="0"/>
                </a:moveTo>
                <a:lnTo>
                  <a:pt x="5540550" y="0"/>
                </a:lnTo>
                <a:lnTo>
                  <a:pt x="5540550" y="3687331"/>
                </a:lnTo>
                <a:lnTo>
                  <a:pt x="0" y="368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Python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3024504"/>
          <a:ext cx="16878300" cy="5182658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[Other Language]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&amp; สำหรั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 Reference, &amp;mut สำหรับ Mutable Reference และ * สำหรับ Dereference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มี Reference 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 แต่ไม่มี Syntax สำหรับ Borrowing โดยตรง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Ownership และ Borrowing 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 สามารถชี้ไปยัง Object เดียวกันได้ และ Memory ถูกจัดการ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Statically Typed มี Reference Type เช่น &amp;T, &amp;mut T ซึ่งกำหนดลักษณะการเข้าถึงและสิท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ธิ์ในการแก้ไขข้อมูล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Dynamically Typed ตัวแปรไม่จำเป็นต้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องประกาศ Type และ Reference ถูกจัดการในระดับ Object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และ Borrowing โด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ยไม่ต้องใช้ Garbage Collector เป็นกลไกหลัก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Automatic Memory Management และ Garbage Collection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ช่วยตรวจส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Memory Safety และกฎการ Borrowing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จัดการ Memory 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 แต่ Type และข้อผิดพลาดหลายอย่างตรวจพบขณะ Runtime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17220"/>
            <a:ext cx="16911828" cy="3303594"/>
            <a:chOff x="0" y="0"/>
            <a:chExt cx="22549104" cy="4404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Analysis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2756766"/>
            <a:ext cx="15883128" cy="58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</a:p>
          <a:p>
            <a:pPr algn="l" marL="468168" indent="-234084" lvl="1">
              <a:lnSpc>
                <a:spcPts val="4630"/>
              </a:lnSpc>
              <a:buFont typeface="Arial"/>
              <a:buChar char="•"/>
            </a:pP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ค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วามแตกต่างสำคัญ: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Rust 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ยกแนวคิด Ownership กับ Borrowing อ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กจ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กกั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นอย่าง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ชัด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จน โ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ดย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&amp;text บอกว่า Function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รับ Reference ไปยังข้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มู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ลแ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ทน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ารรับ Ownership ขณะที่ Python ใช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้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ระบบ Object Reference โดยไม่มี Syntax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ที่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ผู้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ขียนโปรแ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รมต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้อง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ใช้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พื่อระบุ Borrowing แบบ Rust</a:t>
            </a:r>
          </a:p>
          <a:p>
            <a:pPr algn="l">
              <a:lnSpc>
                <a:spcPts val="4630"/>
              </a:lnSpc>
            </a:pPr>
          </a:p>
          <a:p>
            <a:pPr algn="l" marL="468168" indent="-234084" lvl="1">
              <a:lnSpc>
                <a:spcPts val="4630"/>
              </a:lnSpc>
              <a:buFont typeface="Arial"/>
              <a:buChar char="•"/>
            </a:pP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เหตุผลด้านการออกแบบ: Rust ถูกออกแบบให้สามารถตรวจสอบ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Me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ory Safe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y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ตั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้ง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แต่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Time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โดยไม่ต้องพึ่ง Garbage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Collector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เป็นกล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ไ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หลั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 จึงต้องทำใ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ห้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คว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าม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สั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ม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พันธ์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ร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ะหว่างผู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้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เป็นเจ้าของ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ข้อม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ู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ล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กับผู้ที่ยืมข้อมูล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มี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ค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ว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ามชัด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จน </a:t>
            </a:r>
            <a:r>
              <a:rPr lang="en-US" sz="2586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ส</a:t>
            </a:r>
            <a:r>
              <a:rPr lang="en-US" sz="2586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่วน Python เน้นความเรียบง่ายและความสะดวกในการเขียนโปรแกรม จึงจัดการ Memory ให้โดยอัตโนมัติ ทำให้ผู้เขียนโปรแกรมไม่จำเป็นต้องระบุการ Borrowing ใน Syntax</a:t>
            </a:r>
          </a:p>
          <a:p>
            <a:pPr algn="l">
              <a:lnSpc>
                <a:spcPts val="463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-28575"/>
            <a:ext cx="16911828" cy="3920814"/>
            <a:chOff x="0" y="0"/>
            <a:chExt cx="22549104" cy="5227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5227752"/>
            </a:xfrm>
            <a:custGeom>
              <a:avLst/>
              <a:gdLst/>
              <a:ahLst/>
              <a:cxnLst/>
              <a:rect r="r" b="b" t="t" l="l"/>
              <a:pathLst>
                <a:path h="522775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5227752"/>
                  </a:lnTo>
                  <a:lnTo>
                    <a:pt x="0" y="5227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01" r="0" b="37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5246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Java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19328" y="3037888"/>
          <a:ext cx="16878300" cy="5182658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6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[Other Language]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&amp; สำหรั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 Reference, &amp;mut สำหรับ Mutable Reference และ * สำหรับ Dereference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Reference ข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 Object โดยตรง แต่ไม่มี Borrowing Syntax แบบ 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Ownership และ Borrowing 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 ใช้เข้าถึง Object และ Object ถูกจัดก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ารโดย Garbage Collector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Statically Typed มี Reference Type เช่น &amp;T, &amp;mut T ซึ่งกำหนดลักษณะการเข้าถึงและสิท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ธิ์ในการแก้ไขข้อมูล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Statically Typed ต้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องระบุ Type และ Reference จะระบุชนิดของ Object เช่น String หรือ Object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และ Borrowing โด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ยไม่ต้องใช้ Garbage Collector เป็นกลไกหลัก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Garbage Collector จัดการ Memory ของ Object โดย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อัตโนมัติ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ช่วยตรวจส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Memory Safety และกฎการ Borrowing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มี Memory Safety จากการใช้ Reference และ Garbage Collector แต่ไม่มี Borrow Checker 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บบ 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17220"/>
            <a:ext cx="16911828" cy="3303594"/>
            <a:chOff x="0" y="0"/>
            <a:chExt cx="22549104" cy="4404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Analysis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024904"/>
            <a:ext cx="15883128" cy="523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517" indent="-279258" lvl="1">
              <a:lnSpc>
                <a:spcPts val="4630"/>
              </a:lnSpc>
              <a:buFont typeface="Arial"/>
              <a:buChar char="•"/>
            </a:pP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ค</a:t>
            </a: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วามแตกต่างสำคัญ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: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Rust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กำหนดสิทธิ์ในการเข้าถึงข้อมูล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อย่าง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ชัด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เ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จนผ่าน &amp; และ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&amp;mut และ Compiler ตรวจสอบว่าการ Borrow ไม่ขัด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ก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ับกฎของ Ownership ขณะที่ Java ใช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้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Reference ที่สามารถอ้างถึง Object และใช้ Garbage Collector จัดการ Memory ของ Object ที่ไม่สามารถเข้าถึงได้แล้ว</a:t>
            </a:r>
          </a:p>
          <a:p>
            <a:pPr algn="l">
              <a:lnSpc>
                <a:spcPts val="4630"/>
              </a:lnSpc>
            </a:pPr>
          </a:p>
          <a:p>
            <a:pPr algn="l" marL="558517" indent="-279258" lvl="1">
              <a:lnSpc>
                <a:spcPts val="4630"/>
              </a:lnSpc>
              <a:buFont typeface="Arial"/>
              <a:buChar char="•"/>
            </a:pP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เหตุผลด้านการออกแบบ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: Rust เลือกใช้ Ownership และ Borrowing เพื่อให้สามารถควบคุม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ory และตรวจสอบความปลอดภัยได้ตั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้ง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แต่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Compile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Time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โดยไม่ต้องมี Garbage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Collector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ส่วน Java ถูกอ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อ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กแบบให้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เ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น้น ความง่ายในการพัฒนาและการจัดการ Memory อัตโนมัติ จึงใช้ Garbage Collector เพื่อจัดการ Memory ของ Object ที่ไม่สามารถเข้าถึงได้แล้ว</a:t>
            </a:r>
          </a:p>
          <a:p>
            <a:pPr algn="l">
              <a:lnSpc>
                <a:spcPts val="4630"/>
              </a:lnSpc>
            </a:pP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      ทำให้ Programmer ไม่ต้องจัดการ Memory ด้วยตนเอง</a:t>
            </a:r>
          </a:p>
          <a:p>
            <a:pPr algn="l">
              <a:lnSpc>
                <a:spcPts val="463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8086" y="271674"/>
            <a:ext cx="16911828" cy="3303594"/>
            <a:chOff x="0" y="0"/>
            <a:chExt cx="2254910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Rust vs C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21614" y="3083539"/>
          <a:ext cx="16878300" cy="5477933"/>
        </p:xfrm>
        <a:graphic>
          <a:graphicData uri="http://schemas.openxmlformats.org/drawingml/2006/table">
            <a:tbl>
              <a:tblPr/>
              <a:tblGrid>
                <a:gridCol w="4796688"/>
                <a:gridCol w="6040806"/>
                <a:gridCol w="6040806"/>
              </a:tblGrid>
              <a:tr h="7425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[Other Language]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&amp; สำหรั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บ Reference, &amp;mut สำหรับ Mutable Reference และ * สำหรับ Dereference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Pointer * และ Address-of &amp; ในก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ารเข้าถึง Memory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Ownership และ Borrowing ตั้งแต่ Compile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Pointer สามารถเข้าถึงข้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อมูลผ่าน Address และแก้ไขข้อมูลในส่วนที่ Pointer ชี้ได้โดยตรงตามชนิดข้อมูลและการใช้งาน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Statically Typed มี Reference Type เช่น &amp;T, &amp;mut T ซึ่งกำหนดลักษณะการเข้าถึงและสิท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ธิ์ในการแก้ไขข้อมูล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Statically Typed ต้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องระบุ Type ของตัวแปรและ Pointer เช่น int *p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3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ใช้ Ownership และ Borrowing โด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ยไม่ต้องใช้ Garbage Collector เป็นกลไกหลัก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Programmer 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ามารถจัดการ Dynamic Memory โดยใช้ malloc() สำหรับจัดสรร Dynamic Memory และ free() สำหรับคืน Memory ที่จัดสรรไว้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7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ช่วยตรวจส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อบ Memory Safety และกฎการ Borrowing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มีคว</a:t>
                      </a:r>
                      <a:r>
                        <a:rPr lang="en-US" sz="195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ามเสี่ยงจาก Pointer เช่น Dangling Pointer และ Memory Leak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17220"/>
            <a:ext cx="16911828" cy="3303594"/>
            <a:chOff x="0" y="0"/>
            <a:chExt cx="22549104" cy="4404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Analysis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024904"/>
            <a:ext cx="15883128" cy="523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517" indent="-279258" lvl="1">
              <a:lnSpc>
                <a:spcPts val="4630"/>
              </a:lnSpc>
              <a:buFont typeface="Arial"/>
              <a:buChar char="•"/>
            </a:pP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ค</a:t>
            </a: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วามแตกต่างสำคัญ: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แม้ Rust และ C จะมี &amp; และ * ที่ดูคล้าย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กัน แต่แนวคิดเบื้องหลังแตกต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่างก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ัน โดย C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ใช้ Poin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ter และ Address เพื่อให้ Programmer ควบคุม Memory ได้โดยตรง ขณะที่ Rust ใช</a:t>
            </a:r>
            <a:r>
              <a:rPr lang="en-US" sz="2586" i="true" u="non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้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Reference ภายใต้กฎ Ownership และ Borrowing</a:t>
            </a:r>
          </a:p>
          <a:p>
            <a:pPr algn="l">
              <a:lnSpc>
                <a:spcPts val="4630"/>
              </a:lnSpc>
            </a:pPr>
          </a:p>
          <a:p>
            <a:pPr algn="l" marL="558517" indent="-279258" lvl="1">
              <a:lnSpc>
                <a:spcPts val="4630"/>
              </a:lnSpc>
              <a:buFont typeface="Arial"/>
              <a:buChar char="•"/>
            </a:pPr>
            <a:r>
              <a:rPr lang="en-US" b="true" sz="2586" i="true">
                <a:solidFill>
                  <a:srgbClr val="222222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เหตุผลด้านการออกแบบ: </a:t>
            </a:r>
            <a:r>
              <a:rPr lang="en-US" sz="2586" i="true">
                <a:solidFill>
                  <a:srgbClr val="22222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 ถูกออกแบบโดยให้ความสำคัญกับ การควบคุม Hardware และประสิทธิภาพระดับต่ำ จึงเปิดให้เข้าถึง Memory ได้อย่างอิสระ ส่วน Rust ต้องการรักษาความสามารถในการควบคุม Memory และ Performance แบบภาษา System Programming แต่เพิ่ม Compile-time Safety เข้ามา จึงออกแบบ Ownership และ Borrowing เพื่อให้ Compiler ตรวจสอบการใช้ Reference และลดปัญหา เช่น Dangling Pointer และการเข้าถึงข้อมูลที่ไม่ถูกต้อง</a:t>
            </a:r>
          </a:p>
          <a:p>
            <a:pPr algn="l">
              <a:lnSpc>
                <a:spcPts val="463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2708910"/>
            <a:ext cx="15230097" cy="6549390"/>
            <a:chOff x="0" y="0"/>
            <a:chExt cx="15097200" cy="649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97199" cy="6492240"/>
            </a:xfrm>
            <a:custGeom>
              <a:avLst/>
              <a:gdLst/>
              <a:ahLst/>
              <a:cxnLst/>
              <a:rect r="r" b="b" t="t" l="l"/>
              <a:pathLst>
                <a:path h="6492240" w="15097199">
                  <a:moveTo>
                    <a:pt x="0" y="280746"/>
                  </a:moveTo>
                  <a:cubicBezTo>
                    <a:pt x="0" y="125751"/>
                    <a:pt x="137189" y="0"/>
                    <a:pt x="306283" y="0"/>
                  </a:cubicBezTo>
                  <a:lnTo>
                    <a:pt x="14790917" y="0"/>
                  </a:lnTo>
                  <a:cubicBezTo>
                    <a:pt x="14960011" y="0"/>
                    <a:pt x="15097199" y="125751"/>
                    <a:pt x="15097199" y="280746"/>
                  </a:cubicBezTo>
                  <a:lnTo>
                    <a:pt x="15097199" y="6211495"/>
                  </a:lnTo>
                  <a:cubicBezTo>
                    <a:pt x="15097199" y="6366490"/>
                    <a:pt x="14960011" y="6492240"/>
                    <a:pt x="14790917" y="6492240"/>
                  </a:cubicBezTo>
                  <a:lnTo>
                    <a:pt x="306283" y="6492240"/>
                  </a:lnTo>
                  <a:cubicBezTo>
                    <a:pt x="137189" y="6492240"/>
                    <a:pt x="0" y="6366489"/>
                    <a:pt x="0" y="621149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20729" y="1920240"/>
            <a:ext cx="13685202" cy="3081449"/>
            <a:chOff x="0" y="0"/>
            <a:chExt cx="13565785" cy="305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65784" cy="3054560"/>
            </a:xfrm>
            <a:custGeom>
              <a:avLst/>
              <a:gdLst/>
              <a:ahLst/>
              <a:cxnLst/>
              <a:rect r="r" b="b" t="t" l="l"/>
              <a:pathLst>
                <a:path h="3054560" w="13565784">
                  <a:moveTo>
                    <a:pt x="0" y="0"/>
                  </a:moveTo>
                  <a:lnTo>
                    <a:pt x="13565784" y="0"/>
                  </a:lnTo>
                  <a:lnTo>
                    <a:pt x="13565784" y="3054560"/>
                  </a:lnTo>
                  <a:lnTo>
                    <a:pt x="0" y="305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1" r="52232" b="466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565785" cy="306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Rust?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01148" y="4061789"/>
            <a:ext cx="13685202" cy="48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ใช้ References &amp; Borrowing </a:t>
            </a: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เพื่อสร้างสมดุลระหว่าง Safety, Reliability และ Performance โดย Compiler สามารถตรวจสอบกฎของ Ownership และ Borrowing ตั้งแต่ Compile Time</a:t>
            </a:r>
          </a:p>
          <a:p>
            <a:pPr algn="l" marL="544120" indent="-272060" lvl="1">
              <a:lnSpc>
                <a:spcPts val="4284"/>
              </a:lnSpc>
              <a:buFont typeface="Arial"/>
              <a:buChar char="•"/>
            </a:pP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Safety: ช่วยป้องกันการใช้ Reference ที่ไม่ถูกต้อง เช่น Reference ที่ชี้ไปยังข้อมูลที่หมดอายุแล้ว</a:t>
            </a:r>
          </a:p>
          <a:p>
            <a:pPr algn="l" marL="544120" indent="-272060" lvl="1">
              <a:lnSpc>
                <a:spcPts val="4284"/>
              </a:lnSpc>
              <a:buFont typeface="Arial"/>
              <a:buChar char="•"/>
            </a:pP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Reliability: กำหนดกฎการเข้าถึงข้อมูลอย่างชัดเจน เช่น การควบคุมการใช้ Mutable และ Immutable References</a:t>
            </a:r>
          </a:p>
          <a:p>
            <a:pPr algn="l" marL="544120" indent="-272060" lvl="1">
              <a:lnSpc>
                <a:spcPts val="4284"/>
              </a:lnSpc>
              <a:buFont typeface="Arial"/>
              <a:buChar char="•"/>
            </a:pP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Performance: สามารถส่งข้อมูลผ่าน Reference ได้โดยไม่จำเป็นต้องคัดลอกข้อมูลหรือโอน Ownership</a:t>
            </a:r>
          </a:p>
          <a:p>
            <a:pPr algn="l">
              <a:lnSpc>
                <a:spcPts val="4284"/>
              </a:lnSpc>
            </a:pPr>
            <a:r>
              <a:rPr lang="en-US" sz="252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ดังนั้น References &amp; Borrowing จึงเป็นแนวคิดสำคัญที่ช่วยให้ Rust จัดการ Memory ได้อย่างปลอดภัยและมีประสิทธิภาพ โดยไม่ต้องใช้ Garbage Collector เป็นกลไกหลักของภาษา</a:t>
            </a:r>
          </a:p>
          <a:p>
            <a:pPr algn="l">
              <a:lnSpc>
                <a:spcPts val="4284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8637" y="2603673"/>
            <a:ext cx="7484138" cy="6886693"/>
            <a:chOff x="0" y="0"/>
            <a:chExt cx="6112939" cy="56249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12939" cy="5624954"/>
            </a:xfrm>
            <a:custGeom>
              <a:avLst/>
              <a:gdLst/>
              <a:ahLst/>
              <a:cxnLst/>
              <a:rect r="r" b="b" t="t" l="l"/>
              <a:pathLst>
                <a:path h="5624954" w="6112939">
                  <a:moveTo>
                    <a:pt x="0" y="243241"/>
                  </a:moveTo>
                  <a:cubicBezTo>
                    <a:pt x="0" y="108952"/>
                    <a:pt x="55549" y="0"/>
                    <a:pt x="124016" y="0"/>
                  </a:cubicBezTo>
                  <a:lnTo>
                    <a:pt x="5988924" y="0"/>
                  </a:lnTo>
                  <a:cubicBezTo>
                    <a:pt x="6057390" y="0"/>
                    <a:pt x="6112939" y="108952"/>
                    <a:pt x="6112939" y="243241"/>
                  </a:cubicBezTo>
                  <a:lnTo>
                    <a:pt x="6112939" y="5381713"/>
                  </a:lnTo>
                  <a:cubicBezTo>
                    <a:pt x="6112939" y="5516003"/>
                    <a:pt x="6057390" y="5624954"/>
                    <a:pt x="5988924" y="5624954"/>
                  </a:cubicBezTo>
                  <a:lnTo>
                    <a:pt x="124016" y="5624954"/>
                  </a:lnTo>
                  <a:cubicBezTo>
                    <a:pt x="55549" y="5624954"/>
                    <a:pt x="0" y="5516002"/>
                    <a:pt x="0" y="5381713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18221" y="1782641"/>
            <a:ext cx="6992006" cy="3081419"/>
            <a:chOff x="0" y="0"/>
            <a:chExt cx="5710972" cy="25168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0972" cy="2516859"/>
            </a:xfrm>
            <a:custGeom>
              <a:avLst/>
              <a:gdLst/>
              <a:ahLst/>
              <a:cxnLst/>
              <a:rect r="r" b="b" t="t" l="l"/>
              <a:pathLst>
                <a:path h="2516859" w="5710972">
                  <a:moveTo>
                    <a:pt x="0" y="0"/>
                  </a:moveTo>
                  <a:lnTo>
                    <a:pt x="5710972" y="0"/>
                  </a:lnTo>
                  <a:lnTo>
                    <a:pt x="5710972" y="2516859"/>
                  </a:lnTo>
                  <a:lnTo>
                    <a:pt x="0" y="25168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4" r="-13466" b="353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10972" cy="252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Syntax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18221" y="3860430"/>
            <a:ext cx="6724970" cy="572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2415" spc="154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 &amp; Borr</a:t>
            </a:r>
            <a:r>
              <a:rPr lang="en-US" sz="2415" spc="154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owing ในภาษา Rust เกี่ยวข้องกับ Syntax ผ่านรูปแบบการสร้างและประกาศ Reference โดยมี Syntax ที่สำคัญ ได้แก่</a:t>
            </a:r>
          </a:p>
          <a:p>
            <a:pPr algn="l" marL="521598" indent="-260799" lvl="1">
              <a:lnSpc>
                <a:spcPts val="3503"/>
              </a:lnSpc>
              <a:buFont typeface="Arial"/>
              <a:buChar char="•"/>
            </a:pPr>
            <a:r>
              <a:rPr lang="en-US" sz="24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&amp;T สำหรับ Immutable Reference</a:t>
            </a:r>
          </a:p>
          <a:p>
            <a:pPr algn="l" marL="521598" indent="-260799" lvl="1">
              <a:lnSpc>
                <a:spcPts val="3503"/>
              </a:lnSpc>
              <a:buFont typeface="Arial"/>
              <a:buChar char="•"/>
            </a:pPr>
            <a:r>
              <a:rPr lang="en-US" sz="24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&amp;mut T สำหรับ Mutable Reference ตาม Rust Reference รูปแบบทั่วไปของ Reference คือ &amp; ตามด้วย mut ที่อาจมีหรือไม่มีก็ได้ และตามด้วย Type นอกจากนี้ Syntax ของ Reference ยังปรากฏใน Function Parameters และ Return Types เช่น &amp;String ทำให้ลักษณะการเข้าถึงข้อมูลและข้อจำกัดของ Reference สามารถแสดงออกใน Source Code ได้อย่างชัดเจน</a:t>
            </a:r>
          </a:p>
          <a:p>
            <a:pPr algn="l">
              <a:lnSpc>
                <a:spcPts val="3503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2603673"/>
            <a:ext cx="7805363" cy="6886693"/>
            <a:chOff x="0" y="0"/>
            <a:chExt cx="4352792" cy="3840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52791" cy="3840480"/>
            </a:xfrm>
            <a:custGeom>
              <a:avLst/>
              <a:gdLst/>
              <a:ahLst/>
              <a:cxnLst/>
              <a:rect r="r" b="b" t="t" l="l"/>
              <a:pathLst>
                <a:path h="3840480" w="4352791">
                  <a:moveTo>
                    <a:pt x="0" y="166075"/>
                  </a:moveTo>
                  <a:cubicBezTo>
                    <a:pt x="0" y="74388"/>
                    <a:pt x="39554" y="0"/>
                    <a:pt x="88307" y="0"/>
                  </a:cubicBezTo>
                  <a:lnTo>
                    <a:pt x="4264485" y="0"/>
                  </a:lnTo>
                  <a:cubicBezTo>
                    <a:pt x="4313238" y="0"/>
                    <a:pt x="4352791" y="74388"/>
                    <a:pt x="4352791" y="166075"/>
                  </a:cubicBezTo>
                  <a:lnTo>
                    <a:pt x="4352791" y="3674405"/>
                  </a:lnTo>
                  <a:cubicBezTo>
                    <a:pt x="4352791" y="3766093"/>
                    <a:pt x="4313238" y="3840480"/>
                    <a:pt x="4264485" y="3840480"/>
                  </a:cubicBezTo>
                  <a:lnTo>
                    <a:pt x="88307" y="3840480"/>
                  </a:lnTo>
                  <a:cubicBezTo>
                    <a:pt x="39554" y="3840480"/>
                    <a:pt x="0" y="3766092"/>
                    <a:pt x="0" y="367440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53937" y="1782641"/>
            <a:ext cx="7292108" cy="3081449"/>
            <a:chOff x="0" y="0"/>
            <a:chExt cx="4066566" cy="17184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6567" cy="1718422"/>
            </a:xfrm>
            <a:custGeom>
              <a:avLst/>
              <a:gdLst/>
              <a:ahLst/>
              <a:cxnLst/>
              <a:rect r="r" b="b" t="t" l="l"/>
              <a:pathLst>
                <a:path h="1718422" w="4066567">
                  <a:moveTo>
                    <a:pt x="0" y="0"/>
                  </a:moveTo>
                  <a:lnTo>
                    <a:pt x="4066567" y="0"/>
                  </a:lnTo>
                  <a:lnTo>
                    <a:pt x="4066567" y="1718422"/>
                  </a:lnTo>
                  <a:lnTo>
                    <a:pt x="0" y="17184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92" r="-59349" b="52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066566" cy="1727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Semantics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54841" y="4207742"/>
            <a:ext cx="6583681" cy="472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Semantics คือการศึกษาความหมายและพฤติกรรมของคำสั่งหรือโครงสร้าง (Construct) โดยอธิบายว่าเมื่อโปรแกรมถูกประมวลผลแล้ว คำสั่งนั้นจะทำงานอย่างไรและให้ผลลัพธ์แบบใดใน References &amp; Borrowing สิ่งสำคัญคือ &amp; และ &amp;mut ไม่ได้เป็นเพียงสัญลักษณ์ทาง Syntax แต่มีความหมายเกี่ยวกับวิธีการเข้าถึงข้อมูล</a:t>
            </a:r>
          </a:p>
          <a:p>
            <a:pPr algn="l">
              <a:lnSpc>
                <a:spcPts val="467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6258" y="6248168"/>
            <a:ext cx="6947252" cy="3023499"/>
            <a:chOff x="0" y="0"/>
            <a:chExt cx="7211568" cy="3138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1568" cy="3138531"/>
            </a:xfrm>
            <a:custGeom>
              <a:avLst/>
              <a:gdLst/>
              <a:ahLst/>
              <a:cxnLst/>
              <a:rect r="r" b="b" t="t" l="l"/>
              <a:pathLst>
                <a:path h="3138531" w="7211568">
                  <a:moveTo>
                    <a:pt x="0" y="135720"/>
                  </a:moveTo>
                  <a:cubicBezTo>
                    <a:pt x="0" y="60791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0791"/>
                    <a:pt x="7211568" y="135720"/>
                  </a:cubicBezTo>
                  <a:lnTo>
                    <a:pt x="7211568" y="3002811"/>
                  </a:lnTo>
                  <a:cubicBezTo>
                    <a:pt x="7211568" y="3077740"/>
                    <a:pt x="7146036" y="3138531"/>
                    <a:pt x="7065264" y="3138531"/>
                  </a:cubicBezTo>
                  <a:lnTo>
                    <a:pt x="146304" y="3138531"/>
                  </a:lnTo>
                  <a:cubicBezTo>
                    <a:pt x="65532" y="3138531"/>
                    <a:pt x="0" y="3077740"/>
                    <a:pt x="0" y="3002811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82456" y="5348997"/>
            <a:ext cx="6242543" cy="2714382"/>
            <a:chOff x="0" y="0"/>
            <a:chExt cx="6480048" cy="2817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2817653"/>
            </a:xfrm>
            <a:custGeom>
              <a:avLst/>
              <a:gdLst/>
              <a:ahLst/>
              <a:cxnLst/>
              <a:rect r="r" b="b" t="t" l="l"/>
              <a:pathLst>
                <a:path h="2817653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817653"/>
                  </a:lnTo>
                  <a:lnTo>
                    <a:pt x="0" y="28176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0" r="0" b="422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2817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Type System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78612" y="7190931"/>
            <a:ext cx="6242543" cy="170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2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 &amp; Borrowing </a:t>
            </a:r>
            <a:r>
              <a:rPr lang="en-US" sz="22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เกี่ยวข้องกับ Type System เพราะ Reference ใน Rust มี Type ของตัวเอง เช่น &amp;T และ &amp;mut T โดย Type เหล่านี้กำหนดลักษณะการเข้าถึงข้อมูลว่าเป็นการอ่านอย่างเดียวหรือสามารถแก้ไขข้อมูลได้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82589" y="2741241"/>
            <a:ext cx="6947252" cy="3259277"/>
            <a:chOff x="0" y="0"/>
            <a:chExt cx="7211568" cy="3383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11568" cy="3383280"/>
            </a:xfrm>
            <a:custGeom>
              <a:avLst/>
              <a:gdLst/>
              <a:ahLst/>
              <a:cxnLst/>
              <a:rect r="r" b="b" t="t" l="l"/>
              <a:pathLst>
                <a:path h="3383280" w="721156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65264" y="0"/>
                  </a:lnTo>
                  <a:cubicBezTo>
                    <a:pt x="7146036" y="0"/>
                    <a:pt x="7211568" y="65532"/>
                    <a:pt x="7211568" y="146304"/>
                  </a:cubicBezTo>
                  <a:lnTo>
                    <a:pt x="7211568" y="3236976"/>
                  </a:lnTo>
                  <a:cubicBezTo>
                    <a:pt x="7211568" y="3317748"/>
                    <a:pt x="7146036" y="3383280"/>
                    <a:pt x="7065264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97438" y="1920240"/>
            <a:ext cx="6576072" cy="2714382"/>
            <a:chOff x="0" y="0"/>
            <a:chExt cx="6480048" cy="26747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80048" cy="2674746"/>
            </a:xfrm>
            <a:custGeom>
              <a:avLst/>
              <a:gdLst/>
              <a:ahLst/>
              <a:cxnLst/>
              <a:rect r="r" b="b" t="t" l="l"/>
              <a:pathLst>
                <a:path h="2674746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674746"/>
                  </a:lnTo>
                  <a:lnTo>
                    <a:pt x="0" y="2674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31" r="0" b="3911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480048" cy="2674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 / Resource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176683" y="3662152"/>
            <a:ext cx="6242543" cy="2125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3"/>
              </a:lnSpc>
            </a:pPr>
            <a:r>
              <a:rPr lang="en-US" sz="22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 &amp; Borrowing ม</a:t>
            </a:r>
            <a:r>
              <a:rPr lang="en-US" sz="221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ีความสัมพันธ์โดยตรงกับ Ownership ซึ่งเป็นกลไกสำคัญในการจัดการ Memory ของ Rust โดย Borrowing ทำให้สามารถนำข้อมูลไปใช้งานผ่าน Reference ได้โดยไม่ต้องโอน Ownership ให้กับผู้ที่นำข้อมูลไปใช้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62039" y="2716198"/>
            <a:ext cx="7399703" cy="6555469"/>
            <a:chOff x="0" y="0"/>
            <a:chExt cx="7590031" cy="67240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90031" cy="6724082"/>
            </a:xfrm>
            <a:custGeom>
              <a:avLst/>
              <a:gdLst/>
              <a:ahLst/>
              <a:cxnLst/>
              <a:rect r="r" b="b" t="t" l="l"/>
              <a:pathLst>
                <a:path h="6724082" w="7590031">
                  <a:moveTo>
                    <a:pt x="0" y="290771"/>
                  </a:moveTo>
                  <a:cubicBezTo>
                    <a:pt x="0" y="130241"/>
                    <a:pt x="68971" y="0"/>
                    <a:pt x="153982" y="0"/>
                  </a:cubicBezTo>
                  <a:lnTo>
                    <a:pt x="7436049" y="0"/>
                  </a:lnTo>
                  <a:cubicBezTo>
                    <a:pt x="7521060" y="0"/>
                    <a:pt x="7590031" y="130241"/>
                    <a:pt x="7590031" y="290771"/>
                  </a:cubicBezTo>
                  <a:lnTo>
                    <a:pt x="7590031" y="6433311"/>
                  </a:lnTo>
                  <a:cubicBezTo>
                    <a:pt x="7590031" y="6593842"/>
                    <a:pt x="7521060" y="6724082"/>
                    <a:pt x="7436049" y="6724082"/>
                  </a:cubicBezTo>
                  <a:lnTo>
                    <a:pt x="153982" y="6724082"/>
                  </a:lnTo>
                  <a:cubicBezTo>
                    <a:pt x="68971" y="6724082"/>
                    <a:pt x="0" y="6593841"/>
                    <a:pt x="0" y="6433311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18627" y="2067611"/>
            <a:ext cx="6317554" cy="2714382"/>
            <a:chOff x="0" y="0"/>
            <a:chExt cx="6480048" cy="27841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80048" cy="2784198"/>
            </a:xfrm>
            <a:custGeom>
              <a:avLst/>
              <a:gdLst/>
              <a:ahLst/>
              <a:cxnLst/>
              <a:rect r="r" b="b" t="t" l="l"/>
              <a:pathLst>
                <a:path h="2784198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784198"/>
                  </a:lnTo>
                  <a:lnTo>
                    <a:pt x="0" y="2784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3" r="0" b="415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480048" cy="2784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58837" y="3996857"/>
            <a:ext cx="6406108" cy="375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</a:t>
            </a: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ces &amp; Borrowing เชื่อมโยงกับแนวคิด PPL อื่น ๆ เช่น Abstraction, Scope และ Ownership โดยเฉพาะ Abstraction ที่ช่วยให้ Function สามารถกำหนดเพียงว่าต้องการ “เข้าถึงข้อมูล” โดยไม่จำเป็นต้องรับผิดชอบ Ownership ของข้อมูลนั้น ส่วน Scope จะกำหนดขอบเขตการใช้งานของ Reference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086" y="3230688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8086" y="3847908"/>
            <a:ext cx="7955280" cy="2585085"/>
            <a:chOff x="0" y="0"/>
            <a:chExt cx="10607040" cy="34467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3446780"/>
            </a:xfrm>
            <a:custGeom>
              <a:avLst/>
              <a:gdLst/>
              <a:ahLst/>
              <a:cxnLst/>
              <a:rect r="r" b="b" t="t" l="l"/>
              <a:pathLst>
                <a:path h="3446780" w="10607040">
                  <a:moveTo>
                    <a:pt x="0" y="98479"/>
                  </a:moveTo>
                  <a:cubicBezTo>
                    <a:pt x="0" y="44111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44111"/>
                    <a:pt x="10607040" y="98479"/>
                  </a:cubicBezTo>
                  <a:lnTo>
                    <a:pt x="10607040" y="3348301"/>
                  </a:lnTo>
                  <a:cubicBezTo>
                    <a:pt x="10607040" y="3402669"/>
                    <a:pt x="10557891" y="3446780"/>
                    <a:pt x="10497312" y="3446780"/>
                  </a:cubicBezTo>
                  <a:lnTo>
                    <a:pt x="109728" y="3446780"/>
                  </a:lnTo>
                  <a:cubicBezTo>
                    <a:pt x="49149" y="3446780"/>
                    <a:pt x="0" y="3402669"/>
                    <a:pt x="0" y="3348301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62681" b="-154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54846" y="3230688"/>
            <a:ext cx="7955280" cy="548640"/>
            <a:chOff x="0" y="0"/>
            <a:chExt cx="106070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54846" y="3847908"/>
            <a:ext cx="7955280" cy="2585085"/>
            <a:chOff x="0" y="0"/>
            <a:chExt cx="10607040" cy="34467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3446780"/>
            </a:xfrm>
            <a:custGeom>
              <a:avLst/>
              <a:gdLst/>
              <a:ahLst/>
              <a:cxnLst/>
              <a:rect r="r" b="b" t="t" l="l"/>
              <a:pathLst>
                <a:path h="3446780" w="10607040">
                  <a:moveTo>
                    <a:pt x="0" y="98479"/>
                  </a:moveTo>
                  <a:cubicBezTo>
                    <a:pt x="0" y="44111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44111"/>
                    <a:pt x="10607040" y="98479"/>
                  </a:cubicBezTo>
                  <a:lnTo>
                    <a:pt x="10607040" y="3348301"/>
                  </a:lnTo>
                  <a:cubicBezTo>
                    <a:pt x="10607040" y="3402669"/>
                    <a:pt x="10557891" y="3446780"/>
                    <a:pt x="10497312" y="3446780"/>
                  </a:cubicBezTo>
                  <a:lnTo>
                    <a:pt x="109728" y="3446780"/>
                  </a:lnTo>
                  <a:cubicBezTo>
                    <a:pt x="49149" y="3446780"/>
                    <a:pt x="0" y="3402669"/>
                    <a:pt x="0" y="3348301"/>
                  </a:cubicBezTo>
                  <a:close/>
                </a:path>
              </a:pathLst>
            </a:custGeom>
            <a:blipFill>
              <a:blip r:embed="rId5"/>
              <a:stretch>
                <a:fillRect l="0" t="-3996" r="0" b="-1373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8086" y="6773799"/>
            <a:ext cx="16911828" cy="2053765"/>
            <a:chOff x="0" y="0"/>
            <a:chExt cx="22549104" cy="27383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2738353"/>
            </a:xfrm>
            <a:custGeom>
              <a:avLst/>
              <a:gdLst/>
              <a:ahLst/>
              <a:cxnLst/>
              <a:rect r="r" b="b" t="t" l="l"/>
              <a:pathLst>
                <a:path h="2738353" w="22549104">
                  <a:moveTo>
                    <a:pt x="0" y="136918"/>
                  </a:moveTo>
                  <a:cubicBezTo>
                    <a:pt x="0" y="61328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1328"/>
                    <a:pt x="22549104" y="136918"/>
                  </a:cubicBezTo>
                  <a:lnTo>
                    <a:pt x="22549104" y="2601435"/>
                  </a:lnTo>
                  <a:cubicBezTo>
                    <a:pt x="22549104" y="2677025"/>
                    <a:pt x="22483572" y="2738353"/>
                    <a:pt x="22402800" y="2738353"/>
                  </a:cubicBezTo>
                  <a:lnTo>
                    <a:pt x="146304" y="2738353"/>
                  </a:lnTo>
                  <a:cubicBezTo>
                    <a:pt x="65532" y="2738353"/>
                    <a:pt x="0" y="2677025"/>
                    <a:pt x="0" y="260143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33272" y="6982396"/>
            <a:ext cx="16226028" cy="480060"/>
            <a:chOff x="0" y="0"/>
            <a:chExt cx="21634704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34704" cy="640080"/>
            </a:xfrm>
            <a:custGeom>
              <a:avLst/>
              <a:gdLst/>
              <a:ahLst/>
              <a:cxnLst/>
              <a:rect r="r" b="b" t="t" l="l"/>
              <a:pathLst>
                <a:path h="640080" w="21634704">
                  <a:moveTo>
                    <a:pt x="0" y="0"/>
                  </a:moveTo>
                  <a:lnTo>
                    <a:pt x="21634704" y="0"/>
                  </a:lnTo>
                  <a:lnTo>
                    <a:pt x="216347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594" r="0" b="-6085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63470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33272" y="7405306"/>
            <a:ext cx="16226028" cy="131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249" spc="67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ไม่อนุญาตให้ immutable borrow และ mutable borrow ของข้</a:t>
            </a:r>
            <a:r>
              <a:rPr lang="en-US" sz="2249" spc="67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อมูลเดียวกันเกิดขึ้นพร้อมกัน เพราะ mutable borrow สามารถแก้ไขข้อมูลได้ ในขณะที่ immutable borrow ต้องสามารถอ่านข้อมูลได้โดยไม่ต้องกังวลว่าข้อมูลจะถูกแก้ไขระหว่างที่ borrow ยังใช้งานอยู่</a:t>
            </a:r>
          </a:p>
          <a:p>
            <a:pPr algn="l">
              <a:lnSpc>
                <a:spcPts val="3442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028700" y="1844040"/>
            <a:ext cx="16911828" cy="3093336"/>
            <a:chOff x="0" y="0"/>
            <a:chExt cx="22549104" cy="4124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549104" cy="4124448"/>
            </a:xfrm>
            <a:custGeom>
              <a:avLst/>
              <a:gdLst/>
              <a:ahLst/>
              <a:cxnLst/>
              <a:rect r="r" b="b" t="t" l="l"/>
              <a:pathLst>
                <a:path h="412444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124448"/>
                  </a:lnTo>
                  <a:lnTo>
                    <a:pt x="0" y="412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09" r="0" b="-220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2549104" cy="4133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Mistake 1 — [Mutable and Immutable Reference Mixup]</a:t>
              </a:r>
            </a:p>
            <a:p>
              <a:pPr algn="l">
                <a:lnSpc>
                  <a:spcPts val="540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52751"/>
            <a:ext cx="16911828" cy="960120"/>
            <a:chOff x="0" y="0"/>
            <a:chExt cx="22549104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086" y="3000379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23B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8086" y="3617599"/>
            <a:ext cx="7955280" cy="2899427"/>
            <a:chOff x="0" y="0"/>
            <a:chExt cx="10607040" cy="38659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3865904"/>
            </a:xfrm>
            <a:custGeom>
              <a:avLst/>
              <a:gdLst/>
              <a:ahLst/>
              <a:cxnLst/>
              <a:rect r="r" b="b" t="t" l="l"/>
              <a:pathLst>
                <a:path h="3865904" w="10607040">
                  <a:moveTo>
                    <a:pt x="0" y="110454"/>
                  </a:moveTo>
                  <a:cubicBezTo>
                    <a:pt x="0" y="49474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49474"/>
                    <a:pt x="10607040" y="110454"/>
                  </a:cubicBezTo>
                  <a:lnTo>
                    <a:pt x="10607040" y="3755449"/>
                  </a:lnTo>
                  <a:cubicBezTo>
                    <a:pt x="10607040" y="3816429"/>
                    <a:pt x="10557891" y="3865904"/>
                    <a:pt x="10497312" y="3865904"/>
                  </a:cubicBezTo>
                  <a:lnTo>
                    <a:pt x="109728" y="3865904"/>
                  </a:lnTo>
                  <a:cubicBezTo>
                    <a:pt x="49149" y="3865904"/>
                    <a:pt x="0" y="3816429"/>
                    <a:pt x="0" y="3755449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699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54846" y="3000379"/>
            <a:ext cx="7955280" cy="548640"/>
            <a:chOff x="0" y="0"/>
            <a:chExt cx="106070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B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54846" y="3617599"/>
            <a:ext cx="7955280" cy="2899427"/>
            <a:chOff x="0" y="0"/>
            <a:chExt cx="10607040" cy="3865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3865904"/>
            </a:xfrm>
            <a:custGeom>
              <a:avLst/>
              <a:gdLst/>
              <a:ahLst/>
              <a:cxnLst/>
              <a:rect r="r" b="b" t="t" l="l"/>
              <a:pathLst>
                <a:path h="3865904" w="10607040">
                  <a:moveTo>
                    <a:pt x="0" y="110454"/>
                  </a:moveTo>
                  <a:cubicBezTo>
                    <a:pt x="0" y="49474"/>
                    <a:pt x="49149" y="0"/>
                    <a:pt x="109728" y="0"/>
                  </a:cubicBezTo>
                  <a:lnTo>
                    <a:pt x="10497312" y="0"/>
                  </a:lnTo>
                  <a:cubicBezTo>
                    <a:pt x="10557891" y="0"/>
                    <a:pt x="10607040" y="49474"/>
                    <a:pt x="10607040" y="110454"/>
                  </a:cubicBezTo>
                  <a:lnTo>
                    <a:pt x="10607040" y="3755449"/>
                  </a:lnTo>
                  <a:cubicBezTo>
                    <a:pt x="10607040" y="3816429"/>
                    <a:pt x="10557891" y="3865904"/>
                    <a:pt x="10497312" y="3865904"/>
                  </a:cubicBezTo>
                  <a:lnTo>
                    <a:pt x="109728" y="3865904"/>
                  </a:lnTo>
                  <a:cubicBezTo>
                    <a:pt x="49149" y="3865904"/>
                    <a:pt x="0" y="3816429"/>
                    <a:pt x="0" y="3755449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20066" b="-2549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8086" y="6820804"/>
            <a:ext cx="16911828" cy="2890124"/>
            <a:chOff x="0" y="0"/>
            <a:chExt cx="22549104" cy="38534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3853499"/>
            </a:xfrm>
            <a:custGeom>
              <a:avLst/>
              <a:gdLst/>
              <a:ahLst/>
              <a:cxnLst/>
              <a:rect r="r" b="b" t="t" l="l"/>
              <a:pathLst>
                <a:path h="3853499" w="22549104">
                  <a:moveTo>
                    <a:pt x="0" y="192675"/>
                  </a:moveTo>
                  <a:cubicBezTo>
                    <a:pt x="0" y="8630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86302"/>
                    <a:pt x="22549104" y="192675"/>
                  </a:cubicBezTo>
                  <a:lnTo>
                    <a:pt x="22549104" y="3660824"/>
                  </a:lnTo>
                  <a:cubicBezTo>
                    <a:pt x="22549104" y="3767196"/>
                    <a:pt x="22483572" y="3853499"/>
                    <a:pt x="22402800" y="3853499"/>
                  </a:cubicBezTo>
                  <a:lnTo>
                    <a:pt x="146304" y="3853499"/>
                  </a:lnTo>
                  <a:cubicBezTo>
                    <a:pt x="65532" y="3853499"/>
                    <a:pt x="0" y="3767196"/>
                    <a:pt x="0" y="3660824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7095557"/>
            <a:ext cx="16226028" cy="480060"/>
            <a:chOff x="0" y="0"/>
            <a:chExt cx="21634704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34704" cy="640080"/>
            </a:xfrm>
            <a:custGeom>
              <a:avLst/>
              <a:gdLst/>
              <a:ahLst/>
              <a:cxnLst/>
              <a:rect r="r" b="b" t="t" l="l"/>
              <a:pathLst>
                <a:path h="640080" w="21634704">
                  <a:moveTo>
                    <a:pt x="0" y="0"/>
                  </a:moveTo>
                  <a:lnTo>
                    <a:pt x="21634704" y="0"/>
                  </a:lnTo>
                  <a:lnTo>
                    <a:pt x="216347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594" r="0" b="-6085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63470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ทำไมถึงผิด? (Why?)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33272" y="1678689"/>
            <a:ext cx="16911828" cy="3464811"/>
            <a:chOff x="0" y="0"/>
            <a:chExt cx="22549104" cy="46197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549104" cy="4619748"/>
            </a:xfrm>
            <a:custGeom>
              <a:avLst/>
              <a:gdLst/>
              <a:ahLst/>
              <a:cxnLst/>
              <a:rect r="r" b="b" t="t" l="l"/>
              <a:pathLst>
                <a:path h="461974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619748"/>
                  </a:lnTo>
                  <a:lnTo>
                    <a:pt x="0" y="461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251" r="0" b="-89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2549104" cy="4629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22222"/>
                  </a:solidFill>
                  <a:latin typeface="Cambria"/>
                  <a:ea typeface="Cambria"/>
                  <a:cs typeface="Cambria"/>
                  <a:sym typeface="Cambria"/>
                </a:rPr>
                <a:t>Mistake 2 — [Multiple Mutable References]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54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1048" y="7613717"/>
            <a:ext cx="16226028" cy="174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249" spc="67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Rust มีกฎเกี่ยวกับการ borrow ว่า ในช่วงเวลาเดียวกัน ตราบที่ borrow ยังถูกใช้งานอยู่ เราสามารถมี mutable borrow ได้เพียงหนึ่งตัวเท่านั้น เหตุผลที่ Rust ห้ามมี Mutable reference หลายตัวที่อ้างอิงข้</a:t>
            </a:r>
            <a:r>
              <a:rPr lang="en-US" sz="2249" spc="67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อมูลเดียวกันพร้อมกัน เพราะ Mutable reference สามารถแก้ไขข้อมูลที่อ้างถึงได้ Rust จึงต้องให้ Mutable borrow สามารถเข้าถึงข้อมูลแบบ exclusive เพื่อป้องกันการเข้าถึงหรือแก้ไขข้อมูลเดียวกันจากหลายจุดในเวลาเดียวกัน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8086" y="348021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8086" y="1513881"/>
            <a:ext cx="16911828" cy="2316076"/>
            <a:chOff x="0" y="0"/>
            <a:chExt cx="22549104" cy="30881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3088102"/>
            </a:xfrm>
            <a:custGeom>
              <a:avLst/>
              <a:gdLst/>
              <a:ahLst/>
              <a:cxnLst/>
              <a:rect r="r" b="b" t="t" l="l"/>
              <a:pathLst>
                <a:path h="3088102" w="22549104">
                  <a:moveTo>
                    <a:pt x="0" y="114906"/>
                  </a:moveTo>
                  <a:cubicBezTo>
                    <a:pt x="0" y="51468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51468"/>
                    <a:pt x="22549104" y="114906"/>
                  </a:cubicBezTo>
                  <a:lnTo>
                    <a:pt x="22549104" y="2973196"/>
                  </a:lnTo>
                  <a:cubicBezTo>
                    <a:pt x="22549104" y="3036633"/>
                    <a:pt x="22483572" y="3088102"/>
                    <a:pt x="22402800" y="3088102"/>
                  </a:cubicBezTo>
                  <a:lnTo>
                    <a:pt x="146304" y="3088102"/>
                  </a:lnTo>
                  <a:cubicBezTo>
                    <a:pt x="65532" y="3088102"/>
                    <a:pt x="0" y="3036634"/>
                    <a:pt x="0" y="2973196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9566" y="1729135"/>
            <a:ext cx="16088868" cy="480060"/>
            <a:chOff x="0" y="0"/>
            <a:chExt cx="21451824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451824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โจทย์ (Problem)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086" y="9103359"/>
            <a:ext cx="7955280" cy="480060"/>
            <a:chOff x="0" y="0"/>
            <a:chExt cx="106070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Hint: ลองสังเกตการ borrow แต่ละอันว่าเริ่ม/จบตรงไหน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098042" y="4039508"/>
            <a:ext cx="10091915" cy="4150707"/>
          </a:xfrm>
          <a:custGeom>
            <a:avLst/>
            <a:gdLst/>
            <a:ahLst/>
            <a:cxnLst/>
            <a:rect r="r" b="b" t="t" l="l"/>
            <a:pathLst>
              <a:path h="4150707" w="10091915">
                <a:moveTo>
                  <a:pt x="0" y="0"/>
                </a:moveTo>
                <a:lnTo>
                  <a:pt x="10091916" y="0"/>
                </a:lnTo>
                <a:lnTo>
                  <a:pt x="10091916" y="4150707"/>
                </a:lnTo>
                <a:lnTo>
                  <a:pt x="0" y="415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99566" y="2193955"/>
            <a:ext cx="16088868" cy="1382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กลุ่ม</a:t>
            </a: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เพื่อนกลุ่มหนึ่งกำลังจะไปเที่ยวด้วยกัน โดย Noah ชวนเพื่อนมาได้อีก 2 คนคือ Oliver กับ James ในภายหลัง Quinn ตัดสินใจที่จะไปด้วย เหลือเพื่อนอีกคนชื่อ Charlotte ที่กำลังตัดสินใจว่าจะไปมั้ย โดยที่ตนคิดไว้ว่าจะไปถ้า Oliver ไปด้วย James จึงอยากเขียนโค้ดออกมาสั้นๆให้เห็นว่าใครเป็นคนชวน ไปเที่ยว รวมถึงคนที่จะไปด้วยตามลำดับเหตุการณ์ แต่โค้ดของเขากลับติด error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0432" y="8425560"/>
            <a:ext cx="16088868" cy="4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แต</a:t>
            </a: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่โค้ดของเขากลับ compile ไม่ผ่าน จงหาว่า ทำไม compile ไม่ผ่านเพราะส่วนไหนบ้าง แล้วแก้ไขอย่างไรโดยการ restructure โค้ดดังกล่าว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8086" y="-702361"/>
            <a:ext cx="16911828" cy="3303594"/>
            <a:chOff x="0" y="0"/>
            <a:chExt cx="22549104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83743" y="1921387"/>
            <a:ext cx="12520515" cy="6830944"/>
          </a:xfrm>
          <a:custGeom>
            <a:avLst/>
            <a:gdLst/>
            <a:ahLst/>
            <a:cxnLst/>
            <a:rect r="r" b="b" t="t" l="l"/>
            <a:pathLst>
              <a:path h="6830944" w="12520515">
                <a:moveTo>
                  <a:pt x="0" y="0"/>
                </a:moveTo>
                <a:lnTo>
                  <a:pt x="12520514" y="0"/>
                </a:lnTo>
                <a:lnTo>
                  <a:pt x="12520514" y="6830944"/>
                </a:lnTo>
                <a:lnTo>
                  <a:pt x="0" y="6830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519986"/>
            <a:ext cx="16911828" cy="3303594"/>
            <a:chOff x="0" y="0"/>
            <a:chExt cx="22549104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8919" y="1658537"/>
            <a:ext cx="8041729" cy="7371163"/>
            <a:chOff x="0" y="0"/>
            <a:chExt cx="10722305" cy="9828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2305" cy="9828216"/>
            </a:xfrm>
            <a:custGeom>
              <a:avLst/>
              <a:gdLst/>
              <a:ahLst/>
              <a:cxnLst/>
              <a:rect r="r" b="b" t="t" l="l"/>
              <a:pathLst>
                <a:path h="9828216" w="10722305">
                  <a:moveTo>
                    <a:pt x="0" y="365701"/>
                  </a:moveTo>
                  <a:cubicBezTo>
                    <a:pt x="0" y="163804"/>
                    <a:pt x="31161" y="0"/>
                    <a:pt x="69569" y="0"/>
                  </a:cubicBezTo>
                  <a:lnTo>
                    <a:pt x="10652737" y="0"/>
                  </a:lnTo>
                  <a:cubicBezTo>
                    <a:pt x="10691144" y="0"/>
                    <a:pt x="10722305" y="163804"/>
                    <a:pt x="10722305" y="365701"/>
                  </a:cubicBezTo>
                  <a:lnTo>
                    <a:pt x="10722305" y="9462515"/>
                  </a:lnTo>
                  <a:cubicBezTo>
                    <a:pt x="10722305" y="9664412"/>
                    <a:pt x="10691144" y="9828216"/>
                    <a:pt x="10652737" y="9828216"/>
                  </a:cubicBezTo>
                  <a:lnTo>
                    <a:pt x="69569" y="9828216"/>
                  </a:lnTo>
                  <a:cubicBezTo>
                    <a:pt x="31161" y="9828217"/>
                    <a:pt x="0" y="9664414"/>
                    <a:pt x="0" y="946251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1144292"/>
            <a:ext cx="16088868" cy="2927001"/>
            <a:chOff x="0" y="0"/>
            <a:chExt cx="21451824" cy="3902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1824" cy="3902668"/>
            </a:xfrm>
            <a:custGeom>
              <a:avLst/>
              <a:gdLst/>
              <a:ahLst/>
              <a:cxnLst/>
              <a:rect r="r" b="b" t="t" l="l"/>
              <a:pathLst>
                <a:path h="3902668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03" r="0" b="-15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451824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Explaination (คำอธิบาย)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26791" y="5738823"/>
            <a:ext cx="5580559" cy="1582547"/>
          </a:xfrm>
          <a:custGeom>
            <a:avLst/>
            <a:gdLst/>
            <a:ahLst/>
            <a:cxnLst/>
            <a:rect r="r" b="b" t="t" l="l"/>
            <a:pathLst>
              <a:path h="1582547" w="5580559">
                <a:moveTo>
                  <a:pt x="0" y="0"/>
                </a:moveTo>
                <a:lnTo>
                  <a:pt x="5580560" y="0"/>
                </a:lnTo>
                <a:lnTo>
                  <a:pt x="5580560" y="1582547"/>
                </a:lnTo>
                <a:lnTo>
                  <a:pt x="0" y="1582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18" t="-97921" r="-148454" b="-2991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6791" y="2443556"/>
            <a:ext cx="5580559" cy="1496065"/>
          </a:xfrm>
          <a:custGeom>
            <a:avLst/>
            <a:gdLst/>
            <a:ahLst/>
            <a:cxnLst/>
            <a:rect r="r" b="b" t="t" l="l"/>
            <a:pathLst>
              <a:path h="1496065" w="5580559">
                <a:moveTo>
                  <a:pt x="0" y="0"/>
                </a:moveTo>
                <a:lnTo>
                  <a:pt x="5580560" y="0"/>
                </a:lnTo>
                <a:lnTo>
                  <a:pt x="5580560" y="1496065"/>
                </a:lnTo>
                <a:lnTo>
                  <a:pt x="0" y="1496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878" t="-110259" r="-157609" b="-20471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335872" y="4272975"/>
            <a:ext cx="362399" cy="1132495"/>
          </a:xfrm>
          <a:custGeom>
            <a:avLst/>
            <a:gdLst/>
            <a:ahLst/>
            <a:cxnLst/>
            <a:rect r="r" b="b" t="t" l="l"/>
            <a:pathLst>
              <a:path h="1132495" w="362399">
                <a:moveTo>
                  <a:pt x="0" y="0"/>
                </a:moveTo>
                <a:lnTo>
                  <a:pt x="362398" y="0"/>
                </a:lnTo>
                <a:lnTo>
                  <a:pt x="362398" y="1132495"/>
                </a:lnTo>
                <a:lnTo>
                  <a:pt x="0" y="1132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117012" y="3210243"/>
            <a:ext cx="656776" cy="272562"/>
          </a:xfrm>
          <a:custGeom>
            <a:avLst/>
            <a:gdLst/>
            <a:ahLst/>
            <a:cxnLst/>
            <a:rect r="r" b="b" t="t" l="l"/>
            <a:pathLst>
              <a:path h="272562" w="656776">
                <a:moveTo>
                  <a:pt x="0" y="0"/>
                </a:moveTo>
                <a:lnTo>
                  <a:pt x="656776" y="0"/>
                </a:lnTo>
                <a:lnTo>
                  <a:pt x="656776" y="272562"/>
                </a:lnTo>
                <a:lnTo>
                  <a:pt x="0" y="272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84614" y="3436787"/>
            <a:ext cx="6612374" cy="512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จุดที่ 1: first ถูกยืมใช้งานข้าม push() first เป็น immutable reference ที่ยังถูกใช้งานอยู่ ในขณะที่ names.push(...) </a:t>
            </a:r>
          </a:p>
          <a:p>
            <a:pPr algn="l">
              <a:lnSpc>
                <a:spcPts val="4536"/>
              </a:lnSpc>
            </a:pP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เรียกใช้งาน mutable borrow ของ names ซึ่ง Rust ไม่อนุญาต เนื่องจาก push อาจทำให้เกิด vector reallocate memory ทำให้ first กลายเป็น dangling reference ได้</a:t>
            </a:r>
          </a:p>
          <a:p>
            <a:pPr algn="l">
              <a:lnSpc>
                <a:spcPts val="4536"/>
              </a:lnSpc>
            </a:pPr>
            <a:r>
              <a:rPr lang="en-US" sz="21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วิธีแก้: ใช้ first ก่อน แล้วนำไปใช้งานเพื่อให้ borrow จบลงก่อนที่จะใช้ push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519986"/>
            <a:ext cx="16911828" cy="3303594"/>
            <a:chOff x="0" y="0"/>
            <a:chExt cx="22549104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4404792"/>
            </a:xfrm>
            <a:custGeom>
              <a:avLst/>
              <a:gdLst/>
              <a:ahLst/>
              <a:cxnLst/>
              <a:rect r="r" b="b" t="t" l="l"/>
              <a:pathLst>
                <a:path h="4404792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0" b="-142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8919" y="1839512"/>
            <a:ext cx="8041729" cy="7371163"/>
            <a:chOff x="0" y="0"/>
            <a:chExt cx="10722305" cy="9828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2305" cy="9828216"/>
            </a:xfrm>
            <a:custGeom>
              <a:avLst/>
              <a:gdLst/>
              <a:ahLst/>
              <a:cxnLst/>
              <a:rect r="r" b="b" t="t" l="l"/>
              <a:pathLst>
                <a:path h="9828216" w="10722305">
                  <a:moveTo>
                    <a:pt x="0" y="365701"/>
                  </a:moveTo>
                  <a:cubicBezTo>
                    <a:pt x="0" y="163804"/>
                    <a:pt x="31161" y="0"/>
                    <a:pt x="69569" y="0"/>
                  </a:cubicBezTo>
                  <a:lnTo>
                    <a:pt x="10652737" y="0"/>
                  </a:lnTo>
                  <a:cubicBezTo>
                    <a:pt x="10691144" y="0"/>
                    <a:pt x="10722305" y="163804"/>
                    <a:pt x="10722305" y="365701"/>
                  </a:cubicBezTo>
                  <a:lnTo>
                    <a:pt x="10722305" y="9462515"/>
                  </a:lnTo>
                  <a:cubicBezTo>
                    <a:pt x="10722305" y="9664412"/>
                    <a:pt x="10691144" y="9828216"/>
                    <a:pt x="10652737" y="9828216"/>
                  </a:cubicBezTo>
                  <a:lnTo>
                    <a:pt x="69569" y="9828216"/>
                  </a:lnTo>
                  <a:cubicBezTo>
                    <a:pt x="31161" y="9828217"/>
                    <a:pt x="0" y="9664414"/>
                    <a:pt x="0" y="9462515"/>
                  </a:cubicBezTo>
                  <a:close/>
                </a:path>
              </a:pathLst>
            </a:custGeom>
            <a:solidFill>
              <a:srgbClr val="F7F0F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1443480"/>
            <a:ext cx="16088868" cy="2927001"/>
            <a:chOff x="0" y="0"/>
            <a:chExt cx="21451824" cy="39026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1824" cy="3902668"/>
            </a:xfrm>
            <a:custGeom>
              <a:avLst/>
              <a:gdLst/>
              <a:ahLst/>
              <a:cxnLst/>
              <a:rect r="r" b="b" t="t" l="l"/>
              <a:pathLst>
                <a:path h="3902668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3902668"/>
                  </a:lnTo>
                  <a:lnTo>
                    <a:pt x="0" y="3902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03" r="0" b="-153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451824" cy="391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Explaination (คำอธิบาย)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335872" y="4308218"/>
            <a:ext cx="362399" cy="1132495"/>
          </a:xfrm>
          <a:custGeom>
            <a:avLst/>
            <a:gdLst/>
            <a:ahLst/>
            <a:cxnLst/>
            <a:rect r="r" b="b" t="t" l="l"/>
            <a:pathLst>
              <a:path h="1132495" w="362399">
                <a:moveTo>
                  <a:pt x="0" y="0"/>
                </a:moveTo>
                <a:lnTo>
                  <a:pt x="362398" y="0"/>
                </a:lnTo>
                <a:lnTo>
                  <a:pt x="362398" y="1132495"/>
                </a:lnTo>
                <a:lnTo>
                  <a:pt x="0" y="113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84614" y="3853826"/>
            <a:ext cx="6612374" cy="450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21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จุดที่ 2: push ข้างในลูปที่กำลัง borrow names แบบ immutable for name in &amp;names ทำให้ names ถูกยืมแบบ immutable ไปตลอดการวนลูป การจะ push เข้าไปใน names ระหว่างนั้นต้องใช้ mutable borrow ซึ่งขัดกัน</a:t>
            </a:r>
          </a:p>
          <a:p>
            <a:pPr algn="l">
              <a:lnSpc>
                <a:spcPts val="5147"/>
              </a:lnSpc>
            </a:pPr>
            <a:r>
              <a:rPr lang="en-US" sz="21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วิธีแก้: แบ่งการทำงานเดิมออกเป็น 2 ส่วนคือ ส่วนการตัดสินใจ และ ส่วนการเพิ่มข้อมูลเข้า</a:t>
            </a:r>
          </a:p>
          <a:p>
            <a:pPr algn="l">
              <a:lnSpc>
                <a:spcPts val="5147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83564" y="5649938"/>
            <a:ext cx="6067013" cy="3532162"/>
          </a:xfrm>
          <a:custGeom>
            <a:avLst/>
            <a:gdLst/>
            <a:ahLst/>
            <a:cxnLst/>
            <a:rect r="r" b="b" t="t" l="l"/>
            <a:pathLst>
              <a:path h="3532162" w="6067013">
                <a:moveTo>
                  <a:pt x="0" y="0"/>
                </a:moveTo>
                <a:lnTo>
                  <a:pt x="6067014" y="0"/>
                </a:lnTo>
                <a:lnTo>
                  <a:pt x="6067014" y="3532162"/>
                </a:lnTo>
                <a:lnTo>
                  <a:pt x="0" y="353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978" t="-80457" r="-95234" b="-1184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3564" y="1867301"/>
            <a:ext cx="6102079" cy="2145642"/>
          </a:xfrm>
          <a:custGeom>
            <a:avLst/>
            <a:gdLst/>
            <a:ahLst/>
            <a:cxnLst/>
            <a:rect r="r" b="b" t="t" l="l"/>
            <a:pathLst>
              <a:path h="2145642" w="6102079">
                <a:moveTo>
                  <a:pt x="0" y="0"/>
                </a:moveTo>
                <a:lnTo>
                  <a:pt x="6102080" y="0"/>
                </a:lnTo>
                <a:lnTo>
                  <a:pt x="6102080" y="2145642"/>
                </a:lnTo>
                <a:lnTo>
                  <a:pt x="0" y="2145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596" t="-125257" r="-95903" b="-15112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809625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253597"/>
            <a:ext cx="685800" cy="685800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2253597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500" y="2185017"/>
            <a:ext cx="15677388" cy="1583090"/>
            <a:chOff x="0" y="0"/>
            <a:chExt cx="20903184" cy="21107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03185" cy="2110787"/>
            </a:xfrm>
            <a:custGeom>
              <a:avLst/>
              <a:gdLst/>
              <a:ahLst/>
              <a:cxnLst/>
              <a:rect r="r" b="b" t="t" l="l"/>
              <a:pathLst>
                <a:path h="2110787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2110787"/>
                  </a:lnTo>
                  <a:lnTo>
                    <a:pt x="0" y="2110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02" r="0" b="-12111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20903184" cy="2272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3"/>
                </a:lnSpc>
              </a:pPr>
              <a:r>
                <a:rPr lang="en-US" sz="25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5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&amp; Borrowing</a:t>
              </a:r>
            </a:p>
            <a:p>
              <a:pPr algn="l" marL="561339" indent="-280669" lvl="1">
                <a:lnSpc>
                  <a:spcPts val="4263"/>
                </a:lnSpc>
                <a:buFont typeface="Arial"/>
                <a:buChar char="•"/>
              </a:pPr>
              <a:r>
                <a:rPr lang="en-US" sz="25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การใช้ References (&amp;) ช่วยให้เราเข้าถึงข้อมูลได้โดยไม่ต้องย้ายความเป็นเจ้าของ ทำให้โค้ดส่วนต่างๆ สามารถอ่านข้อมูลเดียวกันได้อย่างปลอดภัย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4044324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4044324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" y="3975744"/>
            <a:ext cx="15677388" cy="1583090"/>
            <a:chOff x="0" y="0"/>
            <a:chExt cx="20903184" cy="21107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03185" cy="2110787"/>
            </a:xfrm>
            <a:custGeom>
              <a:avLst/>
              <a:gdLst/>
              <a:ahLst/>
              <a:cxnLst/>
              <a:rect r="r" b="b" t="t" l="l"/>
              <a:pathLst>
                <a:path h="2110787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2110787"/>
                  </a:lnTo>
                  <a:lnTo>
                    <a:pt x="0" y="2110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02" r="0" b="-1211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61925"/>
              <a:ext cx="20903184" cy="2272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sz="26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Mutable vs. Immutable</a:t>
              </a: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Borrows</a:t>
              </a:r>
            </a:p>
            <a:p>
              <a:pPr algn="l" marL="561341" indent="-280670" lvl="1">
                <a:lnSpc>
                  <a:spcPts val="4264"/>
                </a:lnSpc>
                <a:buFont typeface="Arial"/>
                <a:buChar char="•"/>
              </a:pPr>
              <a:r>
                <a:rPr lang="en-US" sz="26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บังคับกฎ</a:t>
              </a:r>
              <a:r>
                <a:rPr lang="en-US" sz="26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การยืมที่เข้มงวด: เราสามารถมี reference แบบอ่านอย่างเดียว (&amp;T) กี่ตัวก็ได้ หรือ มี reference แบบแก้ไขได้ (&amp;mut T) ได้เพียงตัวเดียว เพื่อป้องกัน Data Race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57607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4500" y="5692162"/>
            <a:ext cx="15677388" cy="1668157"/>
            <a:chOff x="0" y="0"/>
            <a:chExt cx="20903184" cy="2224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03185" cy="2224210"/>
            </a:xfrm>
            <a:custGeom>
              <a:avLst/>
              <a:gdLst/>
              <a:ahLst/>
              <a:cxnLst/>
              <a:rect r="r" b="b" t="t" l="l"/>
              <a:pathLst>
                <a:path h="222421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2224210"/>
                  </a:lnTo>
                  <a:lnTo>
                    <a:pt x="0" y="2224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98" r="0" b="-10984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71450"/>
              <a:ext cx="20903184" cy="239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27"/>
                </a:lnSpc>
              </a:pPr>
              <a:r>
                <a:rPr lang="en-US" sz="26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Compile-Time Aliasing Safety</a:t>
              </a:r>
            </a:p>
            <a:p>
              <a:pPr algn="l" marL="582928" indent="-291464" lvl="1">
                <a:lnSpc>
                  <a:spcPts val="4427"/>
                </a:lnSpc>
                <a:buFont typeface="Arial"/>
                <a:buChar char="•"/>
              </a:pPr>
              <a:r>
                <a:rPr lang="en-US" sz="26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Rust ตรวจสอบอายุของ reference และกฎการยืมตั้งแต่ตอน Compile เพื่อความปลอดภัยของหน่วยความจำและป้องกันปัญหา Dangling References โดยไม่ต้องใช้ Garbage Collector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756222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2E2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7562227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14500" y="7493647"/>
            <a:ext cx="15677388" cy="1668157"/>
            <a:chOff x="0" y="0"/>
            <a:chExt cx="20903184" cy="22242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903185" cy="2224210"/>
            </a:xfrm>
            <a:custGeom>
              <a:avLst/>
              <a:gdLst/>
              <a:ahLst/>
              <a:cxnLst/>
              <a:rect r="r" b="b" t="t" l="l"/>
              <a:pathLst>
                <a:path h="2224210" w="20903185">
                  <a:moveTo>
                    <a:pt x="0" y="0"/>
                  </a:moveTo>
                  <a:lnTo>
                    <a:pt x="20903185" y="0"/>
                  </a:lnTo>
                  <a:lnTo>
                    <a:pt x="20903185" y="2224210"/>
                  </a:lnTo>
                  <a:lnTo>
                    <a:pt x="0" y="2224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98" r="0" b="-1098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71450"/>
              <a:ext cx="20903184" cy="239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27"/>
                </a:lnSpc>
              </a:pPr>
              <a:r>
                <a:rPr lang="en-US" sz="26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PPL Connection </a:t>
              </a:r>
            </a:p>
            <a:p>
              <a:pPr algn="l" marL="582928" indent="-291464" lvl="1">
                <a:lnSpc>
                  <a:spcPts val="4427"/>
                </a:lnSpc>
                <a:buFont typeface="Arial"/>
                <a:buChar char="•"/>
              </a:pPr>
              <a:r>
                <a:rPr lang="en-US" sz="26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เชื่อมโยงกับแนวคิดหลักในวิชา PPL เช่น การควบคุมการอ้างอิงซ้ำซ้อน (Aliasing), Reference Semantics, และวิธีที่ภาษาโปรแกรมสมัยใหม่จัดการความปลอดภัยของพอยเตอร์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22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8086" y="1977579"/>
            <a:ext cx="16911828" cy="597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1"/>
              </a:lnSpc>
            </a:pPr>
          </a:p>
          <a:p>
            <a:pPr algn="l">
              <a:lnSpc>
                <a:spcPts val="5941"/>
              </a:lnSpc>
            </a:pP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1.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[The Rust Programming Language — References and Borrowing](</a:t>
            </a:r>
            <a:r>
              <a:rPr lang="en-US" sz="25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doc.rust-lang.org/book/ch04-02-references-and-borrowing.html"/>
              </a:rPr>
              <a:t>https://doc.rust-lang.org/book/ch04-02-references-and-borrowing.html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5941"/>
              </a:lnSpc>
            </a:pP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2. [The Rust Programming Language — Ownership](</a:t>
            </a:r>
            <a:r>
              <a:rPr lang="en-US" sz="25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doc.rust-lang.org/book/ch04-01-what-is-ownership.html"/>
              </a:rPr>
              <a:t>https://doc.rust-lang.org/book/ch04-01-what-is-ownership.html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5941"/>
              </a:lnSpc>
            </a:pP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3. [Rust Reference —</a:t>
            </a:r>
            <a:r>
              <a:rPr lang="en-US" sz="2549" u="none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Borrow Expressions](</a:t>
            </a:r>
            <a:r>
              <a:rPr lang="en-US" sz="25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doc.rust-lang.org/reference/expressions/operator-expr.html#borrow-expressions"/>
              </a:rPr>
              <a:t>https://doc.rust-lang.org/reference/expressions/operator-expr.html#borrow-expressions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5941"/>
              </a:lnSpc>
            </a:pP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4. [Rust by Example — Borrowing](</a:t>
            </a:r>
            <a:r>
              <a:rPr lang="en-US" sz="2549" u="sng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doc.rust-lang.org/rust-by-example/scope/borrow.html"/>
              </a:rPr>
              <a:t>https://doc.rust-lang.org/rust-by-example/scope/borrow.html</a:t>
            </a:r>
            <a:r>
              <a:rPr lang="en-US" sz="25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5941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85800" y="7680960"/>
            <a:ext cx="16911828" cy="548640"/>
            <a:chOff x="0" y="0"/>
            <a:chExt cx="22549104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 </a:t>
              </a:r>
              <a:r>
                <a:rPr lang="en-US" sz="1950" i="true" u="sng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  <a:hlinkClick r:id="rId8" tooltip="https://github.com/Viseth101/rust-tutorial-2569"/>
                </a:rPr>
                <a:t>https://github.com/Viseth101/rust-tutorial-2569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8B2E2E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C9A227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471925"/>
            <a:ext cx="16088868" cy="1371600"/>
            <a:chOff x="0" y="0"/>
            <a:chExt cx="21451824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59" r="0" b="-1785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45182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9A22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843525"/>
            <a:ext cx="16088868" cy="822960"/>
            <a:chOff x="0" y="0"/>
            <a:chExt cx="214518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5182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D8C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กลุ่ม 12 — References &amp; Borrowing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641013" y="1028700"/>
            <a:ext cx="4868813" cy="3443225"/>
          </a:xfrm>
          <a:custGeom>
            <a:avLst/>
            <a:gdLst/>
            <a:ahLst/>
            <a:cxnLst/>
            <a:rect r="r" b="b" t="t" l="l"/>
            <a:pathLst>
              <a:path h="3443225" w="4868813">
                <a:moveTo>
                  <a:pt x="0" y="0"/>
                </a:moveTo>
                <a:lnTo>
                  <a:pt x="4868814" y="0"/>
                </a:lnTo>
                <a:lnTo>
                  <a:pt x="4868814" y="3443225"/>
                </a:lnTo>
                <a:lnTo>
                  <a:pt x="0" y="344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DAHWHP1aj60</dc:identifier>
  <dcterms:modified xsi:type="dcterms:W3CDTF">2011-08-01T06:04:30Z</dcterms:modified>
  <cp:revision>1</cp:revision>
  <dc:title>Rust_Tutorial_Presentation_Group 12.pptx</dc:title>
</cp:coreProperties>
</file>