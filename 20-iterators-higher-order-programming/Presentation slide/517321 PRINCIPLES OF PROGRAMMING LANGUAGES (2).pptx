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Xunga Semi Expanded" charset="1" panose="040708010C0602020602"/>
      <p:regular r:id="rId34"/>
    </p:embeddedFont>
    <p:embeddedFont>
      <p:font typeface="Doughnut Font TH Bold" charset="1" panose="02000503000000000000"/>
      <p:regular r:id="rId35"/>
    </p:embeddedFont>
    <p:embeddedFont>
      <p:font typeface="Canva Sans Bold" charset="1" panose="020B0803030501040103"/>
      <p:regular r:id="rId36"/>
    </p:embeddedFont>
    <p:embeddedFont>
      <p:font typeface="More Sugar" charset="1" panose="00000000000000000000"/>
      <p:regular r:id="rId37"/>
    </p:embeddedFont>
    <p:embeddedFont>
      <p:font typeface="Canva Sans" charset="1" panose="020B0503030501040103"/>
      <p:regular r:id="rId38"/>
    </p:embeddedFont>
    <p:embeddedFont>
      <p:font typeface="Calibri (MS)" charset="1" panose="020F0502020204030204"/>
      <p:regular r:id="rId39"/>
    </p:embeddedFont>
    <p:embeddedFont>
      <p:font typeface="Cambria Bold" charset="1" panose="0204080305040603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31.png" Type="http://schemas.openxmlformats.org/officeDocument/2006/relationships/image"/><Relationship Id="rId8" Target="../media/image3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33.jpe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33.jpe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33.jpe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33.jpe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22.png" Type="http://schemas.openxmlformats.org/officeDocument/2006/relationships/image"/><Relationship Id="rId6" Target="../media/image64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geeksforgeeks.org/rust/rust-higher-order-functions/" TargetMode="External" Type="http://schemas.openxmlformats.org/officeDocument/2006/relationships/hyperlink"/><Relationship Id="rId11" Target="https://www.youtube.com/watch?v=yozQ9C69pNs" TargetMode="External" Type="http://schemas.openxmlformats.org/officeDocument/2006/relationships/hyperlink"/><Relationship Id="rId12" Target="https://www.youtube.com/watch?v=BEPhAIkw6x8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https://doc.rust-lang.org/std/iter/trait.Iterator.html" TargetMode="External" Type="http://schemas.openxmlformats.org/officeDocument/2006/relationships/hyperlink"/><Relationship Id="rId8" Target="https://doc.rust-lang.org/book/ch13-02-iterators.html" TargetMode="External" Type="http://schemas.openxmlformats.org/officeDocument/2006/relationships/hyperlink"/><Relationship Id="rId9" Target="https://doc.rust-lang.org/book/ch13-01-closures.html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6617" y="2446950"/>
            <a:ext cx="11767858" cy="473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7"/>
              </a:lnSpc>
              <a:spcBef>
                <a:spcPct val="0"/>
              </a:spcBef>
            </a:pPr>
            <a:r>
              <a:rPr lang="en-US" sz="8976">
                <a:solidFill>
                  <a:srgbClr val="F9E5A5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ITERATORS &amp; HIGHER-ORDER PROGRAMMING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1793" y="7491795"/>
            <a:ext cx="8477507" cy="97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Presented By Group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30261" y="424096"/>
            <a:ext cx="5129039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5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91585" y="886370"/>
            <a:ext cx="3267715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D5FF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TUTORIAL PRESENTATION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86695" y="-7205713"/>
            <a:ext cx="13886124" cy="7229759"/>
            <a:chOff x="0" y="0"/>
            <a:chExt cx="3657251" cy="19041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251" cy="1904134"/>
            </a:xfrm>
            <a:custGeom>
              <a:avLst/>
              <a:gdLst/>
              <a:ahLst/>
              <a:cxnLst/>
              <a:rect r="r" b="b" t="t" l="l"/>
              <a:pathLst>
                <a:path h="1904134" w="3657251">
                  <a:moveTo>
                    <a:pt x="28434" y="0"/>
                  </a:moveTo>
                  <a:lnTo>
                    <a:pt x="3628817" y="0"/>
                  </a:lnTo>
                  <a:cubicBezTo>
                    <a:pt x="3644521" y="0"/>
                    <a:pt x="3657251" y="12730"/>
                    <a:pt x="3657251" y="28434"/>
                  </a:cubicBezTo>
                  <a:lnTo>
                    <a:pt x="3657251" y="1875700"/>
                  </a:lnTo>
                  <a:cubicBezTo>
                    <a:pt x="3657251" y="1891404"/>
                    <a:pt x="3644521" y="1904134"/>
                    <a:pt x="3628817" y="1904134"/>
                  </a:cubicBezTo>
                  <a:lnTo>
                    <a:pt x="28434" y="1904134"/>
                  </a:lnTo>
                  <a:cubicBezTo>
                    <a:pt x="12730" y="1904134"/>
                    <a:pt x="0" y="1891404"/>
                    <a:pt x="0" y="1875700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657251" cy="1932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213511" y="1829179"/>
            <a:ext cx="13886124" cy="7429121"/>
            <a:chOff x="0" y="0"/>
            <a:chExt cx="3657251" cy="19566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57251" cy="1956641"/>
            </a:xfrm>
            <a:custGeom>
              <a:avLst/>
              <a:gdLst/>
              <a:ahLst/>
              <a:cxnLst/>
              <a:rect r="r" b="b" t="t" l="l"/>
              <a:pathLst>
                <a:path h="1956641" w="3657251">
                  <a:moveTo>
                    <a:pt x="28434" y="0"/>
                  </a:moveTo>
                  <a:lnTo>
                    <a:pt x="3628817" y="0"/>
                  </a:lnTo>
                  <a:cubicBezTo>
                    <a:pt x="3644521" y="0"/>
                    <a:pt x="3657251" y="12730"/>
                    <a:pt x="3657251" y="28434"/>
                  </a:cubicBezTo>
                  <a:lnTo>
                    <a:pt x="3657251" y="1928207"/>
                  </a:lnTo>
                  <a:cubicBezTo>
                    <a:pt x="3657251" y="1943911"/>
                    <a:pt x="3644521" y="1956641"/>
                    <a:pt x="3628817" y="1956641"/>
                  </a:cubicBezTo>
                  <a:lnTo>
                    <a:pt x="28434" y="1956641"/>
                  </a:lnTo>
                  <a:cubicBezTo>
                    <a:pt x="12730" y="1956641"/>
                    <a:pt x="0" y="1943911"/>
                    <a:pt x="0" y="1928207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57251" cy="1985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130261" y="424096"/>
            <a:ext cx="5129039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5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91585" y="886370"/>
            <a:ext cx="3267715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D5FF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TUTORIAL PRESENTATION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64658" y="2844204"/>
            <a:ext cx="606177" cy="593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1.</a:t>
            </a:r>
          </a:p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2.</a:t>
            </a:r>
          </a:p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3.</a:t>
            </a:r>
          </a:p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97888" y="5210471"/>
            <a:ext cx="9947286" cy="53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นางสาว ณัฐฐาพร เสตะวีระ — Detailed Code + Live Demo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0462" y="3673360"/>
            <a:ext cx="10486132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ณัฐชนน รักวงศ์ —  Concept + Short Code Illustration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10462" y="6712836"/>
            <a:ext cx="11139339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ณัฐดนัย ศรีไวย — Rust vs Other Language + PPL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7888" y="8253058"/>
            <a:ext cx="11950601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พรรสวกร สมใจ — Exercises + Common Mistakes + Challenge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23153" y="1925687"/>
            <a:ext cx="4041694" cy="140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1"/>
              </a:lnSpc>
              <a:spcBef>
                <a:spcPct val="0"/>
              </a:spcBef>
            </a:pPr>
            <a:r>
              <a:rPr lang="en-US" sz="8208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Member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584317" y="-762748"/>
            <a:ext cx="9672844" cy="4110959"/>
          </a:xfrm>
          <a:custGeom>
            <a:avLst/>
            <a:gdLst/>
            <a:ahLst/>
            <a:cxnLst/>
            <a:rect r="r" b="b" t="t" l="l"/>
            <a:pathLst>
              <a:path h="4110959" w="9672844">
                <a:moveTo>
                  <a:pt x="9672843" y="4110959"/>
                </a:moveTo>
                <a:lnTo>
                  <a:pt x="0" y="4110959"/>
                </a:lnTo>
                <a:lnTo>
                  <a:pt x="0" y="0"/>
                </a:lnTo>
                <a:lnTo>
                  <a:pt x="9672843" y="0"/>
                </a:lnTo>
                <a:lnTo>
                  <a:pt x="9672843" y="411095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10435">
            <a:off x="227936" y="576802"/>
            <a:ext cx="1518533" cy="1606913"/>
          </a:xfrm>
          <a:custGeom>
            <a:avLst/>
            <a:gdLst/>
            <a:ahLst/>
            <a:cxnLst/>
            <a:rect r="r" b="b" t="t" l="l"/>
            <a:pathLst>
              <a:path h="1606913" w="1518533">
                <a:moveTo>
                  <a:pt x="1518533" y="0"/>
                </a:moveTo>
                <a:lnTo>
                  <a:pt x="0" y="0"/>
                </a:lnTo>
                <a:lnTo>
                  <a:pt x="0" y="1606914"/>
                </a:lnTo>
                <a:lnTo>
                  <a:pt x="1518533" y="1606914"/>
                </a:lnTo>
                <a:lnTo>
                  <a:pt x="151853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20883" y="6834076"/>
            <a:ext cx="9672844" cy="4110959"/>
          </a:xfrm>
          <a:custGeom>
            <a:avLst/>
            <a:gdLst/>
            <a:ahLst/>
            <a:cxnLst/>
            <a:rect r="r" b="b" t="t" l="l"/>
            <a:pathLst>
              <a:path h="4110959" w="9672844">
                <a:moveTo>
                  <a:pt x="0" y="0"/>
                </a:moveTo>
                <a:lnTo>
                  <a:pt x="9672844" y="0"/>
                </a:lnTo>
                <a:lnTo>
                  <a:pt x="9672844" y="4110958"/>
                </a:lnTo>
                <a:lnTo>
                  <a:pt x="0" y="411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2011983">
            <a:off x="16834690" y="6469608"/>
            <a:ext cx="1025650" cy="1085344"/>
          </a:xfrm>
          <a:custGeom>
            <a:avLst/>
            <a:gdLst/>
            <a:ahLst/>
            <a:cxnLst/>
            <a:rect r="r" b="b" t="t" l="l"/>
            <a:pathLst>
              <a:path h="1085344" w="1025650">
                <a:moveTo>
                  <a:pt x="1025650" y="0"/>
                </a:moveTo>
                <a:lnTo>
                  <a:pt x="0" y="0"/>
                </a:lnTo>
                <a:lnTo>
                  <a:pt x="0" y="1085344"/>
                </a:lnTo>
                <a:lnTo>
                  <a:pt x="1025650" y="1085344"/>
                </a:lnTo>
                <a:lnTo>
                  <a:pt x="10256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5801" y="3084179"/>
            <a:ext cx="3741327" cy="5610801"/>
            <a:chOff x="0" y="0"/>
            <a:chExt cx="512870" cy="7691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91152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750975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6808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543" y="5150104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 + Short Code</a:t>
            </a:r>
          </a:p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Illustration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706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แนวคิดหลักของหัวข้อ พร้อมโค้ดตัวอย่างสั้นๆ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3555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10170" y="3084179"/>
            <a:ext cx="3741327" cy="5610801"/>
            <a:chOff x="0" y="0"/>
            <a:chExt cx="512870" cy="769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565522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6925344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1177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24913" y="5150104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Detailed Code + Live Demo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43075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อธิบายโค้ดเชิงลึกและสาธิตการทำงานจริง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37924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80123" y="3084179"/>
            <a:ext cx="3741327" cy="5610801"/>
            <a:chOff x="0" y="0"/>
            <a:chExt cx="512870" cy="7691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735474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11095297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1130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94886" y="5215793"/>
            <a:ext cx="3511801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vs Other Language + PPL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3028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เปรียบเทียบภาษา และวิเคราะห์เชิง Programming Language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07877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50075" y="3084179"/>
            <a:ext cx="3741327" cy="5610801"/>
            <a:chOff x="0" y="0"/>
            <a:chExt cx="512870" cy="7691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4905427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8" id="38"/>
          <p:cNvSpPr txBox="true"/>
          <p:nvPr/>
        </p:nvSpPr>
        <p:spPr>
          <a:xfrm rot="0">
            <a:off x="15265249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61082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83450" y="5141660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xercises + Common Mistakes + Challenge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82980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ข้อผิดพลาดที่พบบ่อย และโจทย์ท้าทายผู้ฟัง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77829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00314" y="578678"/>
            <a:ext cx="5423197" cy="140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1"/>
              </a:lnSpc>
              <a:spcBef>
                <a:spcPct val="0"/>
              </a:spcBef>
            </a:pPr>
            <a:r>
              <a:rPr lang="en-US" sz="82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Agenda -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16878" y="953143"/>
            <a:ext cx="8748371" cy="72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โครงสร้างการนำเสนอ (รวม ~20 นาที)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46677" y="2076426"/>
            <a:ext cx="6361591" cy="39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D3D3D3"/>
                </a:solidFill>
                <a:latin typeface="Canva Sans"/>
                <a:ea typeface="Canva Sans"/>
                <a:cs typeface="Canva Sans"/>
                <a:sym typeface="Canva Sans"/>
              </a:rPr>
              <a:t>แต่ละคนนำเสนอประมาณ 5 นาที ต่อเนื่องกันตามลำดับ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4006" y="3099435"/>
            <a:ext cx="5403996" cy="44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map()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filter()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fold()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collect()</a:t>
            </a:r>
          </a:p>
          <a:p>
            <a:pPr algn="l" marL="904710" indent="-452355" lvl="1">
              <a:lnSpc>
                <a:spcPts val="586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lazy evaluation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3655" y="1409687"/>
            <a:ext cx="7479808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oncepts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8309" y="3108960"/>
            <a:ext cx="7865154" cy="614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8" indent="-421004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Iterator: ประมวลผลข้อมูลทีละตัวแบบ Lazy Evaluation ช่วยประหยัดหน่วยความจำ</a:t>
            </a:r>
          </a:p>
          <a:p>
            <a:pPr algn="l" marL="842008" indent="-421004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Higher-Order Function: ฟังก์ชันที่รับ/คืนฟังก์ชันอื่นเป็น Argument/Result</a:t>
            </a:r>
          </a:p>
          <a:p>
            <a:pPr algn="l" marL="842008" indent="-421004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เมธอดหลัก: map, filter, fold ใช้ประมวลผลข้อมูลโดยไม่ต้องใช้ for loop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1450" y="4587894"/>
            <a:ext cx="7593356" cy="4240446"/>
          </a:xfrm>
          <a:custGeom>
            <a:avLst/>
            <a:gdLst/>
            <a:ahLst/>
            <a:cxnLst/>
            <a:rect r="r" b="b" t="t" l="l"/>
            <a:pathLst>
              <a:path h="4240446" w="7593356">
                <a:moveTo>
                  <a:pt x="0" y="0"/>
                </a:moveTo>
                <a:lnTo>
                  <a:pt x="7593357" y="0"/>
                </a:lnTo>
                <a:lnTo>
                  <a:pt x="7593357" y="4240446"/>
                </a:lnTo>
                <a:lnTo>
                  <a:pt x="0" y="4240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7745" y="5824110"/>
            <a:ext cx="6063082" cy="3004230"/>
          </a:xfrm>
          <a:custGeom>
            <a:avLst/>
            <a:gdLst/>
            <a:ahLst/>
            <a:cxnLst/>
            <a:rect r="r" b="b" t="t" l="l"/>
            <a:pathLst>
              <a:path h="3004230" w="6063082">
                <a:moveTo>
                  <a:pt x="0" y="0"/>
                </a:moveTo>
                <a:lnTo>
                  <a:pt x="6063082" y="0"/>
                </a:lnTo>
                <a:lnTo>
                  <a:pt x="6063082" y="3004230"/>
                </a:lnTo>
                <a:lnTo>
                  <a:pt x="0" y="3004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748" y="2244948"/>
            <a:ext cx="17078505" cy="149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  <a:spcBef>
                <a:spcPct val="0"/>
              </a:spcBef>
            </a:pPr>
            <a:r>
              <a:rPr lang="en-US" b="true" sz="4337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สร้างตัววนซ้ำ (Iterator) โดยขอยืมอ่านข้อมูล โดยส่งคืนค่าเป็น Reference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9575"/>
            <a:ext cx="3444828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er()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7745" y="4083422"/>
            <a:ext cx="3735684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30134" y="5730402"/>
            <a:ext cx="6205081" cy="3147505"/>
          </a:xfrm>
          <a:custGeom>
            <a:avLst/>
            <a:gdLst/>
            <a:ahLst/>
            <a:cxnLst/>
            <a:rect r="r" b="b" t="t" l="l"/>
            <a:pathLst>
              <a:path h="3147505" w="6205081">
                <a:moveTo>
                  <a:pt x="0" y="0"/>
                </a:moveTo>
                <a:lnTo>
                  <a:pt x="6205081" y="0"/>
                </a:lnTo>
                <a:lnTo>
                  <a:pt x="6205081" y="3147505"/>
                </a:lnTo>
                <a:lnTo>
                  <a:pt x="0" y="3147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3592" y="4840677"/>
            <a:ext cx="9307506" cy="4037230"/>
          </a:xfrm>
          <a:custGeom>
            <a:avLst/>
            <a:gdLst/>
            <a:ahLst/>
            <a:cxnLst/>
            <a:rect r="r" b="b" t="t" l="l"/>
            <a:pathLst>
              <a:path h="4037230" w="9307506">
                <a:moveTo>
                  <a:pt x="0" y="0"/>
                </a:moveTo>
                <a:lnTo>
                  <a:pt x="9307506" y="0"/>
                </a:lnTo>
                <a:lnTo>
                  <a:pt x="9307506" y="4037230"/>
                </a:lnTo>
                <a:lnTo>
                  <a:pt x="0" y="4037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4708"/>
            <a:ext cx="16249507" cy="207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แปลงข้อมูลทุกตัวใน Iterator โดยส่งคืนค่าเป็น Iterator ตัวใหม่ ใน แต่ละรอบ number จะเป็น Reference (&amp;i32) ที่ชี้ไปยังข้อมูลเดิม ดังนั้นข้อมูลใน numbers ยังคงสามารถใช้งานต่อได้หลังจากวนลูปเสร็จ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9575"/>
            <a:ext cx="3422228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ap()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7745" y="4083422"/>
            <a:ext cx="3735684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474" y="3449598"/>
            <a:ext cx="8264965" cy="5694628"/>
          </a:xfrm>
          <a:custGeom>
            <a:avLst/>
            <a:gdLst/>
            <a:ahLst/>
            <a:cxnLst/>
            <a:rect r="r" b="b" t="t" l="l"/>
            <a:pathLst>
              <a:path h="5694628" w="8264965">
                <a:moveTo>
                  <a:pt x="0" y="0"/>
                </a:moveTo>
                <a:lnTo>
                  <a:pt x="8264966" y="0"/>
                </a:lnTo>
                <a:lnTo>
                  <a:pt x="8264966" y="5694627"/>
                </a:lnTo>
                <a:lnTo>
                  <a:pt x="0" y="5694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7745" y="6816378"/>
            <a:ext cx="6787217" cy="2327847"/>
          </a:xfrm>
          <a:custGeom>
            <a:avLst/>
            <a:gdLst/>
            <a:ahLst/>
            <a:cxnLst/>
            <a:rect r="r" b="b" t="t" l="l"/>
            <a:pathLst>
              <a:path h="2327847" w="6787217">
                <a:moveTo>
                  <a:pt x="0" y="0"/>
                </a:moveTo>
                <a:lnTo>
                  <a:pt x="6787217" y="0"/>
                </a:lnTo>
                <a:lnTo>
                  <a:pt x="6787217" y="2327847"/>
                </a:lnTo>
                <a:lnTo>
                  <a:pt x="0" y="2327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2074784"/>
            <a:ext cx="16249507" cy="66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คัดกรองข้อมูลตามเงื่อนไข โดย Closure ต้องคืนค่าเป็น true หรือ 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9575"/>
            <a:ext cx="4122810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filt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er()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2546" y="4987398"/>
            <a:ext cx="3735684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25432" y="7261342"/>
            <a:ext cx="6305595" cy="1748370"/>
          </a:xfrm>
          <a:custGeom>
            <a:avLst/>
            <a:gdLst/>
            <a:ahLst/>
            <a:cxnLst/>
            <a:rect r="r" b="b" t="t" l="l"/>
            <a:pathLst>
              <a:path h="1748370" w="6305595">
                <a:moveTo>
                  <a:pt x="0" y="0"/>
                </a:moveTo>
                <a:lnTo>
                  <a:pt x="6305596" y="0"/>
                </a:lnTo>
                <a:lnTo>
                  <a:pt x="6305596" y="1748369"/>
                </a:lnTo>
                <a:lnTo>
                  <a:pt x="0" y="174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969" y="4020727"/>
            <a:ext cx="9804138" cy="5024011"/>
          </a:xfrm>
          <a:custGeom>
            <a:avLst/>
            <a:gdLst/>
            <a:ahLst/>
            <a:cxnLst/>
            <a:rect r="r" b="b" t="t" l="l"/>
            <a:pathLst>
              <a:path h="5024011" w="9804138">
                <a:moveTo>
                  <a:pt x="0" y="0"/>
                </a:moveTo>
                <a:lnTo>
                  <a:pt x="9804138" y="0"/>
                </a:lnTo>
                <a:lnTo>
                  <a:pt x="9804138" y="5024011"/>
                </a:lnTo>
                <a:lnTo>
                  <a:pt x="0" y="5024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72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ยุบรวมข้อมูลทั้งหมดใน Iterator ให้เหลือค่าเดี่ยว โดยคืนค่าผลลัพธ์สุดท้ายชนิดเดียว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9575"/>
            <a:ext cx="3422228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fol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5432" y="5507184"/>
            <a:ext cx="3735684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655" y="4075405"/>
            <a:ext cx="6716737" cy="5059081"/>
          </a:xfrm>
          <a:custGeom>
            <a:avLst/>
            <a:gdLst/>
            <a:ahLst/>
            <a:cxnLst/>
            <a:rect r="r" b="b" t="t" l="l"/>
            <a:pathLst>
              <a:path h="5059081" w="6716737">
                <a:moveTo>
                  <a:pt x="0" y="0"/>
                </a:moveTo>
                <a:lnTo>
                  <a:pt x="6716737" y="0"/>
                </a:lnTo>
                <a:lnTo>
                  <a:pt x="6716737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57128" y="7234115"/>
            <a:ext cx="7269446" cy="1802823"/>
          </a:xfrm>
          <a:custGeom>
            <a:avLst/>
            <a:gdLst/>
            <a:ahLst/>
            <a:cxnLst/>
            <a:rect r="r" b="b" t="t" l="l"/>
            <a:pathLst>
              <a:path h="1802823" w="7269446">
                <a:moveTo>
                  <a:pt x="0" y="0"/>
                </a:moveTo>
                <a:lnTo>
                  <a:pt x="7269446" y="0"/>
                </a:lnTo>
                <a:lnTo>
                  <a:pt x="7269446" y="1802823"/>
                </a:lnTo>
                <a:lnTo>
                  <a:pt x="0" y="1802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72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รวบรวมข้อมูลจาก Iterator กลับไปเป็น Collection คืนค่าเป็น collection ใหม่ เช่น Vec, HashMap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9575"/>
            <a:ext cx="4592879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ollect()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7128" y="5529783"/>
            <a:ext cx="3735684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655" y="4159955"/>
            <a:ext cx="6716737" cy="5059081"/>
          </a:xfrm>
          <a:custGeom>
            <a:avLst/>
            <a:gdLst/>
            <a:ahLst/>
            <a:cxnLst/>
            <a:rect r="r" b="b" t="t" l="l"/>
            <a:pathLst>
              <a:path h="5059081" w="6716737">
                <a:moveTo>
                  <a:pt x="0" y="0"/>
                </a:moveTo>
                <a:lnTo>
                  <a:pt x="6716737" y="0"/>
                </a:lnTo>
                <a:lnTo>
                  <a:pt x="6716737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3655" y="21563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lazy evaluation จะคำนวนผลก็ต่อเมื่อมีการเรียกให้แสดงผลลัพธ์เท่านั้น ช่วยลดการคำนวณที่ไม่จำเป็น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1061" y="409575"/>
            <a:ext cx="7987307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lazy 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3655" y="514350"/>
            <a:ext cx="32578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096794"/>
            <a:ext cx="7096750" cy="27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</a:pPr>
            <a:r>
              <a:rPr lang="en-US" sz="3998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ที่ .map() ยังไม่คำนวน</a:t>
            </a:r>
          </a:p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คำนวนที่ .collect() เนื่องจากต้องรวบรวมข้อมูลจาก Iterator กลับไปเป็น Collection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68264" y="4329535"/>
            <a:ext cx="3648222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explain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01681" y="2007948"/>
            <a:ext cx="7789065" cy="7341906"/>
          </a:xfrm>
          <a:custGeom>
            <a:avLst/>
            <a:gdLst/>
            <a:ahLst/>
            <a:cxnLst/>
            <a:rect r="r" b="b" t="t" l="l"/>
            <a:pathLst>
              <a:path h="7341906" w="7789065">
                <a:moveTo>
                  <a:pt x="0" y="0"/>
                </a:moveTo>
                <a:lnTo>
                  <a:pt x="7789064" y="0"/>
                </a:lnTo>
                <a:lnTo>
                  <a:pt x="7789064" y="7341906"/>
                </a:lnTo>
                <a:lnTo>
                  <a:pt x="0" y="7341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3" t="0" r="-262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62399" y="243310"/>
            <a:ext cx="12696901" cy="12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20018" y="7429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8998" y="2063509"/>
            <a:ext cx="7345786" cy="43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ระบบคัดเลือกนักศึกษารับทุน (Scholarship system)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1245" y="2637410"/>
            <a:ext cx="250405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sz="2284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Checklist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1245" y="3139025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1: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แสดงคะแนนเริ่มต้นของนักศึกษาทั้งหมด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1245" y="3596564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ขั้นแรก โปรแกรมจะแสดงคะแนนเริ่มต้นของนักศึกษาทั้งหมดก่อน ซึ่งในที่นี้มีคะแนน 35, 50, 68, 72, 90, 45 และ 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1695" y="4362995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2: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คัดเลือกนักศึกษาที่ผ่านเกณฑ์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81245" y="4816605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จากนั้นโปรแกรมจะใช้ filter() เพื่อคัดเลือกเฉพาะนักศึกษาที่มีคะแนนตั้งแต่ 60 คะแนนขึ้นไป เพราะเป็นเกณฑ์ที่กำหนดสำหรับทุน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1695" y="5585537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3: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เพิ่ม Bonus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1695" y="6039147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สำหรับนักศึกษาที่ผ่านเกณฑ์ โปรแกรมจะใช้ map() เพื่อเพิ่มคะแนน Bonus อีก 5 คะแนน โดยจะเห็นข้อความแสดงคะแนนก่อนเพิ่ม Bonus ออกมาด้วย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1695" y="6808079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4: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แสดงผลลัพธ์สุดท้าย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1695" y="7261688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สุดท้าย โปรแกรมจะ collect() ผลลัพธ์ทั้งหมดมาเก็บใน final_scores แล้วแสดงคะแนนสุดท้ายของนักศึกษาที่ได้รับทุน รวมถึงจำนวนผู้ได้รับทุนทั้งหมด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01681" y="2007948"/>
            <a:ext cx="7789065" cy="7341906"/>
          </a:xfrm>
          <a:custGeom>
            <a:avLst/>
            <a:gdLst/>
            <a:ahLst/>
            <a:cxnLst/>
            <a:rect r="r" b="b" t="t" l="l"/>
            <a:pathLst>
              <a:path h="7341906" w="7789065">
                <a:moveTo>
                  <a:pt x="0" y="0"/>
                </a:moveTo>
                <a:lnTo>
                  <a:pt x="7789064" y="0"/>
                </a:lnTo>
                <a:lnTo>
                  <a:pt x="7789064" y="7341906"/>
                </a:lnTo>
                <a:lnTo>
                  <a:pt x="0" y="7341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3" t="0" r="-262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83975" y="3462755"/>
            <a:ext cx="6695832" cy="5259931"/>
          </a:xfrm>
          <a:custGeom>
            <a:avLst/>
            <a:gdLst/>
            <a:ahLst/>
            <a:cxnLst/>
            <a:rect r="r" b="b" t="t" l="l"/>
            <a:pathLst>
              <a:path h="5259931" w="6695832">
                <a:moveTo>
                  <a:pt x="0" y="0"/>
                </a:moveTo>
                <a:lnTo>
                  <a:pt x="6695832" y="0"/>
                </a:lnTo>
                <a:lnTo>
                  <a:pt x="6695832" y="5259931"/>
                </a:lnTo>
                <a:lnTo>
                  <a:pt x="0" y="52599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62399" y="243310"/>
            <a:ext cx="12696901" cy="12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(1)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20018" y="7429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8998" y="2063509"/>
            <a:ext cx="7345786" cy="43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ระบบคัดเลือกนักศึกษารับทุน (Scholarship system)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7364" y="2835984"/>
            <a:ext cx="2793789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0013" y="1981039"/>
            <a:ext cx="4913624" cy="7468708"/>
          </a:xfrm>
          <a:custGeom>
            <a:avLst/>
            <a:gdLst/>
            <a:ahLst/>
            <a:cxnLst/>
            <a:rect r="r" b="b" t="t" l="l"/>
            <a:pathLst>
              <a:path h="7468708" w="4913624">
                <a:moveTo>
                  <a:pt x="0" y="0"/>
                </a:moveTo>
                <a:lnTo>
                  <a:pt x="4913623" y="0"/>
                </a:lnTo>
                <a:lnTo>
                  <a:pt x="4913623" y="7468708"/>
                </a:lnTo>
                <a:lnTo>
                  <a:pt x="0" y="7468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20018" y="7429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62399" y="243310"/>
            <a:ext cx="13135644" cy="126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(2)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2129" y="2059456"/>
            <a:ext cx="7345786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ระบบสั่งอาหาร (Food Order System)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56420" y="2737471"/>
            <a:ext cx="2594860" cy="40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Checklist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56420" y="3257276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1: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แสดงรายการอาหารและราคาเริ่มต้น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6420" y="3750457"/>
            <a:ext cx="6584283" cy="28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ขั้นแรก โปรแกรมจะแสดงรายการอาหารพร้อมราคาตั้งต้นของแต่ละเมนู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98336" y="4177251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2: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คัดเลือกเมนูที่ราคา ≤ 200 บาท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8336" y="4666360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จากนั้นใช้ filter() เพื่อเลือกเฉพาะเมนูที่มีราคาไม่เกิน 200 บาท ส่วนเมนูที่เกิน 200 บาทจะไม่ถูกเลือก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98336" y="5391045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3: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ลดราคา 10% สำหรับเมนูที่ถูกเลือก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98336" y="5880154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เมนูที่ผ่านเงื่อนไขจะถูกนำมาคำนวณส่วนลด 10% ด้วย map() ทำให้ได้ราคาหลังหักส่วนลด เช่น Burger: 150 → 135 บาท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98336" y="6604839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4: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แสดงรายการที่เลือกและ ยอดชำระทั้งหมด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98336" y="7093948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สุดท้ายใช้ fold() เพื่อรวมราคาหลังส่วนลดของเมนูที่เลือกทั้งหมด แล้วแสดงยอดชำระรวม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0013" y="1981039"/>
            <a:ext cx="4913624" cy="7468708"/>
          </a:xfrm>
          <a:custGeom>
            <a:avLst/>
            <a:gdLst/>
            <a:ahLst/>
            <a:cxnLst/>
            <a:rect r="r" b="b" t="t" l="l"/>
            <a:pathLst>
              <a:path h="7468708" w="4913624">
                <a:moveTo>
                  <a:pt x="0" y="0"/>
                </a:moveTo>
                <a:lnTo>
                  <a:pt x="4913623" y="0"/>
                </a:lnTo>
                <a:lnTo>
                  <a:pt x="4913623" y="7468708"/>
                </a:lnTo>
                <a:lnTo>
                  <a:pt x="0" y="7468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02129" y="3586071"/>
            <a:ext cx="8595980" cy="5438273"/>
          </a:xfrm>
          <a:custGeom>
            <a:avLst/>
            <a:gdLst/>
            <a:ahLst/>
            <a:cxnLst/>
            <a:rect r="r" b="b" t="t" l="l"/>
            <a:pathLst>
              <a:path h="5438273" w="8595980">
                <a:moveTo>
                  <a:pt x="0" y="0"/>
                </a:moveTo>
                <a:lnTo>
                  <a:pt x="8595979" y="0"/>
                </a:lnTo>
                <a:lnTo>
                  <a:pt x="8595979" y="5438273"/>
                </a:lnTo>
                <a:lnTo>
                  <a:pt x="0" y="5438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20018" y="7429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62399" y="243310"/>
            <a:ext cx="13135644" cy="126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2129" y="2059456"/>
            <a:ext cx="7345786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ระบบสั่งอาหาร (Food Order System)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2129" y="2890442"/>
            <a:ext cx="2793789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02564" y="-468436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10755436"/>
                </a:moveTo>
                <a:lnTo>
                  <a:pt x="18893128" y="10755436"/>
                </a:lnTo>
                <a:lnTo>
                  <a:pt x="18893128" y="0"/>
                </a:lnTo>
                <a:lnTo>
                  <a:pt x="0" y="0"/>
                </a:lnTo>
                <a:lnTo>
                  <a:pt x="0" y="10755436"/>
                </a:lnTo>
                <a:close/>
              </a:path>
            </a:pathLst>
          </a:custGeom>
          <a:blipFill>
            <a:blip r:embed="rId2"/>
            <a:stretch>
              <a:fillRect l="0" t="-14155" r="-31278" b="-3266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73178" y="1708793"/>
            <a:ext cx="1268133" cy="1307354"/>
          </a:xfrm>
          <a:custGeom>
            <a:avLst/>
            <a:gdLst/>
            <a:ahLst/>
            <a:cxnLst/>
            <a:rect r="r" b="b" t="t" l="l"/>
            <a:pathLst>
              <a:path h="1307354" w="1268133">
                <a:moveTo>
                  <a:pt x="1268134" y="0"/>
                </a:moveTo>
                <a:lnTo>
                  <a:pt x="0" y="0"/>
                </a:lnTo>
                <a:lnTo>
                  <a:pt x="0" y="1307354"/>
                </a:lnTo>
                <a:lnTo>
                  <a:pt x="1268134" y="1307354"/>
                </a:lnTo>
                <a:lnTo>
                  <a:pt x="12681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12776" y="8265527"/>
            <a:ext cx="12653729" cy="3790530"/>
            <a:chOff x="0" y="0"/>
            <a:chExt cx="3332669" cy="998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32669" cy="998329"/>
            </a:xfrm>
            <a:custGeom>
              <a:avLst/>
              <a:gdLst/>
              <a:ahLst/>
              <a:cxnLst/>
              <a:rect r="r" b="b" t="t" l="l"/>
              <a:pathLst>
                <a:path h="998329" w="3332669">
                  <a:moveTo>
                    <a:pt x="0" y="0"/>
                  </a:moveTo>
                  <a:lnTo>
                    <a:pt x="3332669" y="0"/>
                  </a:lnTo>
                  <a:lnTo>
                    <a:pt x="3332669" y="998329"/>
                  </a:lnTo>
                  <a:lnTo>
                    <a:pt x="0" y="998329"/>
                  </a:lnTo>
                  <a:close/>
                </a:path>
              </a:pathLst>
            </a:custGeom>
            <a:solidFill>
              <a:srgbClr val="BFD3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32669" cy="1036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1430553" y="6613400"/>
            <a:ext cx="13739739" cy="5289800"/>
          </a:xfrm>
          <a:custGeom>
            <a:avLst/>
            <a:gdLst/>
            <a:ahLst/>
            <a:cxnLst/>
            <a:rect r="r" b="b" t="t" l="l"/>
            <a:pathLst>
              <a:path h="5289800" w="13739739">
                <a:moveTo>
                  <a:pt x="13739739" y="0"/>
                </a:moveTo>
                <a:lnTo>
                  <a:pt x="0" y="0"/>
                </a:lnTo>
                <a:lnTo>
                  <a:pt x="0" y="5289800"/>
                </a:lnTo>
                <a:lnTo>
                  <a:pt x="13739739" y="5289800"/>
                </a:lnTo>
                <a:lnTo>
                  <a:pt x="1373973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6093051" y="-2279505"/>
            <a:ext cx="14441175" cy="5559852"/>
          </a:xfrm>
          <a:custGeom>
            <a:avLst/>
            <a:gdLst/>
            <a:ahLst/>
            <a:cxnLst/>
            <a:rect r="r" b="b" t="t" l="l"/>
            <a:pathLst>
              <a:path h="5559852" w="14441175">
                <a:moveTo>
                  <a:pt x="0" y="5559852"/>
                </a:moveTo>
                <a:lnTo>
                  <a:pt x="14441175" y="5559852"/>
                </a:lnTo>
                <a:lnTo>
                  <a:pt x="14441175" y="0"/>
                </a:lnTo>
                <a:lnTo>
                  <a:pt x="0" y="0"/>
                </a:lnTo>
                <a:lnTo>
                  <a:pt x="0" y="5559852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8974" y="6048918"/>
            <a:ext cx="16672113" cy="6418763"/>
          </a:xfrm>
          <a:custGeom>
            <a:avLst/>
            <a:gdLst/>
            <a:ahLst/>
            <a:cxnLst/>
            <a:rect r="r" b="b" t="t" l="l"/>
            <a:pathLst>
              <a:path h="6418763" w="16672113">
                <a:moveTo>
                  <a:pt x="0" y="0"/>
                </a:moveTo>
                <a:lnTo>
                  <a:pt x="16672113" y="0"/>
                </a:lnTo>
                <a:lnTo>
                  <a:pt x="16672113" y="6418764"/>
                </a:lnTo>
                <a:lnTo>
                  <a:pt x="0" y="6418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18819" y="580931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541312" y="1250697"/>
          <a:ext cx="15195409" cy="8597086"/>
        </p:xfrm>
        <a:graphic>
          <a:graphicData uri="http://schemas.openxmlformats.org/drawingml/2006/table">
            <a:tbl>
              <a:tblPr/>
              <a:tblGrid>
                <a:gridCol w="2440625"/>
                <a:gridCol w="3637538"/>
                <a:gridCol w="3039082"/>
                <a:gridCol w="3039082"/>
                <a:gridCol w="3039082"/>
              </a:tblGrid>
              <a:tr h="998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Aspect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Rust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Java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Iterator chain .iter().filter().map().sum() ส่งฟังก์ชันหรือ closure เข้า adaptor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map(f, filter(g, data)) ใช้ lambda หรือ generator expression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 API .stream().filter().mapToInt().sum() ส่ง lambda เข้า operation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ไม่มี syntax พิเศษ เขียนลูป for เองและส่ง function pointer int (*f)(int)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Iterator เป็น Lazy ทำงานเมื่อมี consumer และ next() คืน Option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map, filter, generator เป็น Lazy ผ่าน Iterator Protocol (__next__) แต่ list comprehension คำนวณทันที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 เป็น Lazy ทำงานเมื่อเจอ terminal operation และใช้ซ้ำไม่ได้หลังถูกใช้แล้ว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ไม่มี Lazy Evaluation ลูปคำนวณทันทีตามที่เขียน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+ strong typing ใช้ Iterator&lt;Item = T&gt; และ Trait Fn ตรวจตอน Compile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 + strong typing ตรวจ type ของ argument ใน lambda ตอน Runtime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+ strong typing ใช้ Stream&lt;T&gt; และ Functional Interface เช่น Predicate, Function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typing function pointer ระบุ signature ได้ แต่ compiler ตรวจได้จำกัด (cast ผิดชนิดได้)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67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Ownership, Borrowing, Lifetime ไม่มี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 Counting ร่วมกับ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Garbage Collector และ Stream สร้าง Object ภายในระหว่าง pipeline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Programmer จัดการเอง (malloc/free) ไม่มี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ตรวจการยืมและการ move ของ iterator ก่อน compile ป้องกัน Iterator Invalidation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แก้ list ขณะวนลูปได้ ผลลัพธ์อาจผิดปกติโดยไม่มี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แก้ collection ขณะวนลูปอาจเกิด ConcurrentModificationException ตอน Runtime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ไม่ตรวจขอบเขต array เข้าถึงเกิน index จะเกิด Undefined Behavior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4682417" y="43514"/>
            <a:ext cx="11482473" cy="136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6"/>
              </a:lnSpc>
              <a:spcBef>
                <a:spcPct val="0"/>
              </a:spcBef>
            </a:pPr>
            <a:r>
              <a:rPr lang="en-US" sz="796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Rust vs Other Language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-1999090">
            <a:off x="652437" y="3159066"/>
            <a:ext cx="752526" cy="775800"/>
          </a:xfrm>
          <a:custGeom>
            <a:avLst/>
            <a:gdLst/>
            <a:ahLst/>
            <a:cxnLst/>
            <a:rect r="r" b="b" t="t" l="l"/>
            <a:pathLst>
              <a:path h="775800" w="752526">
                <a:moveTo>
                  <a:pt x="752526" y="0"/>
                </a:moveTo>
                <a:lnTo>
                  <a:pt x="0" y="0"/>
                </a:lnTo>
                <a:lnTo>
                  <a:pt x="0" y="775800"/>
                </a:lnTo>
                <a:lnTo>
                  <a:pt x="752526" y="775800"/>
                </a:lnTo>
                <a:lnTo>
                  <a:pt x="7525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0725" y="2714736"/>
            <a:ext cx="486003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การประมวลผลข้อมูลใน Rust แบบ Iterat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เขียนเป็นลูกโซ่ 3 ส่วน คือ Source → Adaptor → Consumer โดย Adaptor เช่น map และ filter เป็น Higher-Order Function ที่รับ "ฟังก์ชัน" เข้าไปกำหนดพฤติกรรม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1852780"/>
            <a:chOff x="0" y="0"/>
            <a:chExt cx="6480048" cy="2470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470374"/>
            </a:xfrm>
            <a:custGeom>
              <a:avLst/>
              <a:gdLst/>
              <a:ahLst/>
              <a:cxnLst/>
              <a:rect r="r" b="b" t="t" l="l"/>
              <a:pathLst>
                <a:path h="2470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305" r="0" b="340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Syntax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450353" y="1994674"/>
            <a:ext cx="8527295" cy="5499688"/>
          </a:xfrm>
          <a:custGeom>
            <a:avLst/>
            <a:gdLst/>
            <a:ahLst/>
            <a:cxnLst/>
            <a:rect r="r" b="b" t="t" l="l"/>
            <a:pathLst>
              <a:path h="5499688" w="8527295">
                <a:moveTo>
                  <a:pt x="0" y="0"/>
                </a:moveTo>
                <a:lnTo>
                  <a:pt x="8527295" y="0"/>
                </a:lnTo>
                <a:lnTo>
                  <a:pt x="8527295" y="5499689"/>
                </a:lnTo>
                <a:lnTo>
                  <a:pt x="0" y="5499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50353" y="7862300"/>
            <a:ext cx="1715499" cy="669861"/>
          </a:xfrm>
          <a:custGeom>
            <a:avLst/>
            <a:gdLst/>
            <a:ahLst/>
            <a:cxnLst/>
            <a:rect r="r" b="b" t="t" l="l"/>
            <a:pathLst>
              <a:path h="669861" w="1715499">
                <a:moveTo>
                  <a:pt x="0" y="0"/>
                </a:moveTo>
                <a:lnTo>
                  <a:pt x="1715499" y="0"/>
                </a:lnTo>
                <a:lnTo>
                  <a:pt x="1715499" y="669862"/>
                </a:lnTo>
                <a:lnTo>
                  <a:pt x="0" y="669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4108832"/>
            <a:ext cx="4860036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.iter(), .into_iter(), 1..=5 สร้าง iterator จากข้อมูล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Adaptor: .map(), .filter(), .take(), .enumerate(), .zip()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คืน iterator ตัวใหม่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Consumer: .collect(), .sum(), .fold(), .count() ดึงค่าออกมาเป็นผลลัพธ์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x in iterator { ... } วนลูปผ่าน iterator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fn func&lt;F: Fn(i32) -&gt; i32&gt;(f: F) ฟังก์ชันที่รับฟังก์ชันเป็น parameter (ส่งได้ทั้งฟังก์ชันชื่อและ closure |x| x + 1)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54530" y="1761132"/>
            <a:ext cx="5914979" cy="2050526"/>
          </a:xfrm>
          <a:custGeom>
            <a:avLst/>
            <a:gdLst/>
            <a:ahLst/>
            <a:cxnLst/>
            <a:rect r="r" b="b" t="t" l="l"/>
            <a:pathLst>
              <a:path h="2050526" w="5914979">
                <a:moveTo>
                  <a:pt x="0" y="0"/>
                </a:moveTo>
                <a:lnTo>
                  <a:pt x="5914978" y="0"/>
                </a:lnTo>
                <a:lnTo>
                  <a:pt x="5914978" y="2050526"/>
                </a:lnTo>
                <a:lnTo>
                  <a:pt x="0" y="2050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4228" y="3138890"/>
            <a:ext cx="1689257" cy="658152"/>
          </a:xfrm>
          <a:custGeom>
            <a:avLst/>
            <a:gdLst/>
            <a:ahLst/>
            <a:cxnLst/>
            <a:rect r="r" b="b" t="t" l="l"/>
            <a:pathLst>
              <a:path h="658152" w="1689257">
                <a:moveTo>
                  <a:pt x="0" y="0"/>
                </a:moveTo>
                <a:lnTo>
                  <a:pt x="1689257" y="0"/>
                </a:lnTo>
                <a:lnTo>
                  <a:pt x="1689257" y="658152"/>
                </a:lnTo>
                <a:lnTo>
                  <a:pt x="0" y="6581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54530" y="3903510"/>
            <a:ext cx="10508457" cy="661371"/>
          </a:xfrm>
          <a:custGeom>
            <a:avLst/>
            <a:gdLst/>
            <a:ahLst/>
            <a:cxnLst/>
            <a:rect r="r" b="b" t="t" l="l"/>
            <a:pathLst>
              <a:path h="661371" w="10508457">
                <a:moveTo>
                  <a:pt x="0" y="0"/>
                </a:moveTo>
                <a:lnTo>
                  <a:pt x="10508457" y="0"/>
                </a:lnTo>
                <a:lnTo>
                  <a:pt x="10508457" y="661371"/>
                </a:lnTo>
                <a:lnTo>
                  <a:pt x="0" y="661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54530" y="4673243"/>
            <a:ext cx="5699655" cy="5169455"/>
          </a:xfrm>
          <a:custGeom>
            <a:avLst/>
            <a:gdLst/>
            <a:ahLst/>
            <a:cxnLst/>
            <a:rect r="r" b="b" t="t" l="l"/>
            <a:pathLst>
              <a:path h="5169455" w="5699655">
                <a:moveTo>
                  <a:pt x="0" y="0"/>
                </a:moveTo>
                <a:lnTo>
                  <a:pt x="5699655" y="0"/>
                </a:lnTo>
                <a:lnTo>
                  <a:pt x="5699655" y="5169455"/>
                </a:lnTo>
                <a:lnTo>
                  <a:pt x="0" y="5169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9508" y="8229912"/>
            <a:ext cx="1331189" cy="1612786"/>
          </a:xfrm>
          <a:custGeom>
            <a:avLst/>
            <a:gdLst/>
            <a:ahLst/>
            <a:cxnLst/>
            <a:rect r="r" b="b" t="t" l="l"/>
            <a:pathLst>
              <a:path h="1612786" w="1331189">
                <a:moveTo>
                  <a:pt x="0" y="0"/>
                </a:moveTo>
                <a:lnTo>
                  <a:pt x="1331189" y="0"/>
                </a:lnTo>
                <a:lnTo>
                  <a:pt x="1331189" y="1612786"/>
                </a:lnTo>
                <a:lnTo>
                  <a:pt x="0" y="16127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0725" y="1509083"/>
            <a:ext cx="4860036" cy="1852780"/>
            <a:chOff x="0" y="0"/>
            <a:chExt cx="6480048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80048" cy="2470374"/>
            </a:xfrm>
            <a:custGeom>
              <a:avLst/>
              <a:gdLst/>
              <a:ahLst/>
              <a:cxnLst/>
              <a:rect r="r" b="b" t="t" l="l"/>
              <a:pathLst>
                <a:path h="2470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305" r="0" b="340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480048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Semantics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60725" y="2705100"/>
            <a:ext cx="48600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ทุกตัวทำงานผ่าน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method next() ที่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คืน Option โดย Some(value) คือยังมีข้อมูล และ None คือหมดแล้ว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loop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ก็คือการเรียก next() ซ้ำจนได้ None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 เป็น Lazy Evaluation คือ ไม่คำนวณจนกว่าจะมี Consumer มาดึงค่า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Short-Circuit จะหยุดเมื่อเจอสิ่งที่ต้องการแล้ว take_while, any จึงใช้กับเลขไม่รู้จบได้ เช่น (1..)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2233780"/>
            <a:chOff x="0" y="0"/>
            <a:chExt cx="6480048" cy="2978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Type System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319200" y="2131951"/>
            <a:ext cx="10765210" cy="1729823"/>
          </a:xfrm>
          <a:custGeom>
            <a:avLst/>
            <a:gdLst/>
            <a:ahLst/>
            <a:cxnLst/>
            <a:rect r="r" b="b" t="t" l="l"/>
            <a:pathLst>
              <a:path h="1729823" w="10765210">
                <a:moveTo>
                  <a:pt x="0" y="0"/>
                </a:moveTo>
                <a:lnTo>
                  <a:pt x="10765209" y="0"/>
                </a:lnTo>
                <a:lnTo>
                  <a:pt x="10765209" y="1729823"/>
                </a:lnTo>
                <a:lnTo>
                  <a:pt x="0" y="1729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55455" y="4209226"/>
            <a:ext cx="10728955" cy="1054192"/>
          </a:xfrm>
          <a:custGeom>
            <a:avLst/>
            <a:gdLst/>
            <a:ahLst/>
            <a:cxnLst/>
            <a:rect r="r" b="b" t="t" l="l"/>
            <a:pathLst>
              <a:path h="1054192" w="10728955">
                <a:moveTo>
                  <a:pt x="0" y="0"/>
                </a:moveTo>
                <a:lnTo>
                  <a:pt x="10728954" y="0"/>
                </a:lnTo>
                <a:lnTo>
                  <a:pt x="10728954" y="1054192"/>
                </a:lnTo>
                <a:lnTo>
                  <a:pt x="0" y="10541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0725" y="2705100"/>
            <a:ext cx="486003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Iterator&lt;Item = T&gt; คือ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iterator ที่ส่ง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ค่าชนิด T ออกมาทีละตัว (Item เป็น Associated Type)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 แต่ละตัวคืน type ใหม่ที่ห่อตัวเดิมไว้ เช่น Map&lt;I, F&gt; และ Filter&lt;I, P&gt; ซึ่ง compiler รู้ตั้งแต่ตอน Compile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Parameter ที่เป็นฟังก์ชันระบุด้วย Trait Bound เช่น fn func&lt;F: Fn(i32) -&gt; i32&gt;(f: F, value: i32) -&gt; i32 หรือใช้ function pointer fn func(f: fn(i32) -&gt; i32, value: i32) -&gt; i32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collect() ต้องรู้ชนิดปลายทาง เช่น Vec&lt;i32&gt; เพราะ collect เป็น Vec, HashSet หรือ String ได้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356640"/>
            <a:ext cx="4860036" cy="2233780"/>
            <a:chOff x="0" y="0"/>
            <a:chExt cx="6480048" cy="2978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 / Resource Management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039578" y="1961295"/>
            <a:ext cx="10938361" cy="4407050"/>
          </a:xfrm>
          <a:custGeom>
            <a:avLst/>
            <a:gdLst/>
            <a:ahLst/>
            <a:cxnLst/>
            <a:rect r="r" b="b" t="t" l="l"/>
            <a:pathLst>
              <a:path h="4407050" w="10938361">
                <a:moveTo>
                  <a:pt x="0" y="0"/>
                </a:moveTo>
                <a:lnTo>
                  <a:pt x="10938361" y="0"/>
                </a:lnTo>
                <a:lnTo>
                  <a:pt x="10938361" y="4407049"/>
                </a:lnTo>
                <a:lnTo>
                  <a:pt x="0" y="4407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9578" y="6644569"/>
            <a:ext cx="3094826" cy="1426693"/>
          </a:xfrm>
          <a:custGeom>
            <a:avLst/>
            <a:gdLst/>
            <a:ahLst/>
            <a:cxnLst/>
            <a:rect r="r" b="b" t="t" l="l"/>
            <a:pathLst>
              <a:path h="1426693" w="3094826">
                <a:moveTo>
                  <a:pt x="0" y="0"/>
                </a:moveTo>
                <a:lnTo>
                  <a:pt x="3094826" y="0"/>
                </a:lnTo>
                <a:lnTo>
                  <a:pt x="3094826" y="1426693"/>
                </a:lnTo>
                <a:lnTo>
                  <a:pt x="0" y="1426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0725" y="3744684"/>
            <a:ext cx="486003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(): ยืมข้อมูลมาอ่าน (&amp;T) collec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tion เดิมยังใช้ต่อได้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iter_mut(): ยืมข้อมูลมาแก้ไข (&amp;mut 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into_iter(): ย้าย ownership เข้า iterator (T) collection เดิมใช้ต่อไม่ได้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Chain ไม่สร้าง collection ชั่วคราวระหว่างขั้นตอน จึงไม่เปลือง Heap เพิ่ม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3018920"/>
            <a:ext cx="486003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ใช้ระบบ Ownership และ Borrowing โดยวิธีสร้าง iterator ที่ต่างกันมีผลต่อ collection เดิมต่างกัน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2614780"/>
            <a:chOff x="0" y="0"/>
            <a:chExt cx="6480048" cy="3486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3486374"/>
            </a:xfrm>
            <a:custGeom>
              <a:avLst/>
              <a:gdLst/>
              <a:ahLst/>
              <a:cxnLst/>
              <a:rect r="r" b="b" t="t" l="l"/>
              <a:pathLst>
                <a:path h="3486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25" r="0" b="532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Abstraction / Other PPL Concepts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376912" y="1845158"/>
            <a:ext cx="9417838" cy="2152649"/>
          </a:xfrm>
          <a:custGeom>
            <a:avLst/>
            <a:gdLst/>
            <a:ahLst/>
            <a:cxnLst/>
            <a:rect r="r" b="b" t="t" l="l"/>
            <a:pathLst>
              <a:path h="2152649" w="9417838">
                <a:moveTo>
                  <a:pt x="0" y="0"/>
                </a:moveTo>
                <a:lnTo>
                  <a:pt x="9417838" y="0"/>
                </a:lnTo>
                <a:lnTo>
                  <a:pt x="9417838" y="2152649"/>
                </a:lnTo>
                <a:lnTo>
                  <a:pt x="0" y="215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76912" y="4159732"/>
            <a:ext cx="7374866" cy="5427901"/>
          </a:xfrm>
          <a:custGeom>
            <a:avLst/>
            <a:gdLst/>
            <a:ahLst/>
            <a:cxnLst/>
            <a:rect r="r" b="b" t="t" l="l"/>
            <a:pathLst>
              <a:path h="5427901" w="7374866">
                <a:moveTo>
                  <a:pt x="0" y="0"/>
                </a:moveTo>
                <a:lnTo>
                  <a:pt x="7374866" y="0"/>
                </a:lnTo>
                <a:lnTo>
                  <a:pt x="7374866" y="5427901"/>
                </a:lnTo>
                <a:lnTo>
                  <a:pt x="0" y="5427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53845" y="9040842"/>
            <a:ext cx="567093" cy="510466"/>
          </a:xfrm>
          <a:custGeom>
            <a:avLst/>
            <a:gdLst/>
            <a:ahLst/>
            <a:cxnLst/>
            <a:rect r="r" b="b" t="t" l="l"/>
            <a:pathLst>
              <a:path h="510466" w="567093">
                <a:moveTo>
                  <a:pt x="0" y="0"/>
                </a:moveTo>
                <a:lnTo>
                  <a:pt x="567093" y="0"/>
                </a:lnTo>
                <a:lnTo>
                  <a:pt x="567093" y="510466"/>
                </a:lnTo>
                <a:lnTo>
                  <a:pt x="0" y="510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7538" r="0" b="-3354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3105150"/>
            <a:ext cx="4860036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เป็น Abstraction ของ "การ loop ข้อมูลจากตัวแรกจนถึงตัวสุดท้าย"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Scope: ตัวแปรของ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และ closure อยู่ภายใต้ Lexical Scope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Bind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ing: รับฟังก์ชันผ่าน Generic (F: Fn) ผูกตอน Compile (Static Dispatch) ส่วนกรณีที่ไม่รู้ชนิดจริง จะรู้ตอนรันโปรแกรม dyn ผูกตอน Runtime (Dynamic Dispatch)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Paradigm: Rust เป็น Multi-paradigm โดย Iterator และ Higher-Order Function รองรับ Functional Programming (First-class Function) แต่ไม่ใช่ภาษา Functional แบบ pure เพราะยังมี Side Effect (ฟังก์ชันทำนอกเหนือจากการคืนค่า เช่น พิมพ์ออกจอ เขียนไฟล์ แก้ตัวแปรภายนอก)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1381839"/>
            <a:ext cx="11082071" cy="7328019"/>
          </a:xfrm>
          <a:custGeom>
            <a:avLst/>
            <a:gdLst/>
            <a:ahLst/>
            <a:cxnLst/>
            <a:rect r="r" b="b" t="t" l="l"/>
            <a:pathLst>
              <a:path h="7328019" w="11082071">
                <a:moveTo>
                  <a:pt x="0" y="0"/>
                </a:moveTo>
                <a:lnTo>
                  <a:pt x="11082070" y="0"/>
                </a:lnTo>
                <a:lnTo>
                  <a:pt x="11082070" y="7328019"/>
                </a:lnTo>
                <a:lnTo>
                  <a:pt x="0" y="732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90743" y="214099"/>
            <a:ext cx="8618016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94771" y="4844577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6"/>
                </a:lnTo>
                <a:lnTo>
                  <a:pt x="0" y="6183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91826" y="1941843"/>
            <a:ext cx="5504348" cy="7781758"/>
            <a:chOff x="0" y="0"/>
            <a:chExt cx="1449705" cy="20495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3982" y="1681376"/>
            <a:ext cx="4860036" cy="2233780"/>
            <a:chOff x="0" y="0"/>
            <a:chExt cx="6480048" cy="29783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Rust?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401993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3982" y="2877393"/>
            <a:ext cx="486003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emory Safety: Borrow Checker ตรวจการยืมและการ move ของ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iterator ป้องกันก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ารใช้ข้อมูลที่ถูก move ไปแล้วหรือถูกแก้ไขขณะวนลูป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Reliability: next() คืน Option จึงต้องจัดการกรณีข้อมูลหมดอย่างชัดเจน และ type ของ Adaptor ทุกตัวถูกตรวจตอน Compile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Performance: Iterator Chain เป็น Zero-Cost Abstraction เพราะ Lazy ไม่สร้าง collection ชั่วคราว และ compiler inline ฟังก์ชันที่ส่งผ่าน Generic 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Garbage Collector: จัดการทรัพยากรด้วย Ownership และจัดการค่าตาม scope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788498" y="5891505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6" y="0"/>
                </a:lnTo>
                <a:lnTo>
                  <a:pt x="14477296" y="6152851"/>
                </a:lnTo>
                <a:lnTo>
                  <a:pt x="0" y="6152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10866712" y="0"/>
                </a:moveTo>
                <a:lnTo>
                  <a:pt x="0" y="0"/>
                </a:lnTo>
                <a:lnTo>
                  <a:pt x="0" y="18893128"/>
                </a:lnTo>
                <a:lnTo>
                  <a:pt x="10866712" y="18893128"/>
                </a:lnTo>
                <a:lnTo>
                  <a:pt x="10866712" y="0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3825" y="597933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0" y="0"/>
                </a:lnTo>
                <a:lnTo>
                  <a:pt x="8569740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079" y="1145882"/>
            <a:ext cx="10071019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Common Mistakes 1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2257248" y="7007296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0"/>
                </a:moveTo>
                <a:lnTo>
                  <a:pt x="0" y="0"/>
                </a:lnTo>
                <a:lnTo>
                  <a:pt x="0" y="4713358"/>
                </a:lnTo>
                <a:lnTo>
                  <a:pt x="8569740" y="4713358"/>
                </a:lnTo>
                <a:lnTo>
                  <a:pt x="856974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29245">
            <a:off x="14731264" y="-2434364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2" y="0"/>
                </a:lnTo>
                <a:lnTo>
                  <a:pt x="5056072" y="6926128"/>
                </a:lnTo>
                <a:lnTo>
                  <a:pt x="0" y="6926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28969" y="2737856"/>
            <a:ext cx="6469424" cy="2712228"/>
            <a:chOff x="0" y="0"/>
            <a:chExt cx="1703881" cy="7143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1125" y="2151235"/>
            <a:ext cx="5963674" cy="2614780"/>
            <a:chOff x="0" y="0"/>
            <a:chExt cx="7951566" cy="3486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1566" cy="3486374"/>
            </a:xfrm>
            <a:custGeom>
              <a:avLst/>
              <a:gdLst/>
              <a:ahLst/>
              <a:cxnLst/>
              <a:rect r="r" b="b" t="t" l="l"/>
              <a:pathLst>
                <a:path h="3486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25" r="18506" b="532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951566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การลืมว่า Iterator ใน Rust เป็นแบบ Lazy Evaluation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492865" y="3167825"/>
            <a:ext cx="9049253" cy="2197959"/>
          </a:xfrm>
          <a:custGeom>
            <a:avLst/>
            <a:gdLst/>
            <a:ahLst/>
            <a:cxnLst/>
            <a:rect r="r" b="b" t="t" l="l"/>
            <a:pathLst>
              <a:path h="2197959" w="9049253">
                <a:moveTo>
                  <a:pt x="0" y="0"/>
                </a:moveTo>
                <a:lnTo>
                  <a:pt x="9049253" y="0"/>
                </a:lnTo>
                <a:lnTo>
                  <a:pt x="9049253" y="2197958"/>
                </a:lnTo>
                <a:lnTo>
                  <a:pt x="0" y="2197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2865" y="6070326"/>
            <a:ext cx="9049253" cy="3545416"/>
          </a:xfrm>
          <a:custGeom>
            <a:avLst/>
            <a:gdLst/>
            <a:ahLst/>
            <a:cxnLst/>
            <a:rect r="r" b="b" t="t" l="l"/>
            <a:pathLst>
              <a:path h="3545416" w="9049253">
                <a:moveTo>
                  <a:pt x="0" y="0"/>
                </a:moveTo>
                <a:lnTo>
                  <a:pt x="9049253" y="0"/>
                </a:lnTo>
                <a:lnTo>
                  <a:pt x="9049253" y="3545417"/>
                </a:lnTo>
                <a:lnTo>
                  <a:pt x="0" y="3545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28969" y="5623781"/>
            <a:ext cx="6469424" cy="2712228"/>
            <a:chOff x="0" y="0"/>
            <a:chExt cx="1703881" cy="7143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1125" y="5037161"/>
            <a:ext cx="5963674" cy="1852780"/>
            <a:chOff x="0" y="0"/>
            <a:chExt cx="7951566" cy="24703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1566" cy="2470374"/>
            </a:xfrm>
            <a:custGeom>
              <a:avLst/>
              <a:gdLst/>
              <a:ahLst/>
              <a:cxnLst/>
              <a:rect r="r" b="b" t="t" l="l"/>
              <a:pathLst>
                <a:path h="2470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305" r="18506" b="340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951566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Why??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08251" y="7222193"/>
            <a:ext cx="2869400" cy="2625591"/>
          </a:xfrm>
          <a:custGeom>
            <a:avLst/>
            <a:gdLst/>
            <a:ahLst/>
            <a:cxnLst/>
            <a:rect r="r" b="b" t="t" l="l"/>
            <a:pathLst>
              <a:path h="2625591" w="2869400">
                <a:moveTo>
                  <a:pt x="0" y="0"/>
                </a:moveTo>
                <a:lnTo>
                  <a:pt x="2869401" y="0"/>
                </a:lnTo>
                <a:lnTo>
                  <a:pt x="2869401" y="2625590"/>
                </a:lnTo>
                <a:lnTo>
                  <a:pt x="0" y="26255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2447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7247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97843" y="1558130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ข้อผิดพลาดที่พบบ่อย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125" y="3673405"/>
            <a:ext cx="5963674" cy="16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erator ใน Rust มีคุณสมบัติ "Lazy" หมายความว่าม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ันจะไ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ม่ประมวลผลอะไรเลย จนกว่าจะถูกเรียกใช้งานด้วย consuming adaptors 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(เช่น `.collect()`, `.sum()`, หรือถูกใช้งานใน `for` loop) มือใหม่มักเขียน chain ของ Iterator ทิ้งไว้โดยไม่ดึงค่าออกมา ทำให้โค้ดส่วนนั้นไม่ถูกทำงาน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492865" y="2479545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incorrect code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92865" y="5382046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correct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7016" y="6328621"/>
            <a:ext cx="5963674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Rust ออกแบบมาให้ทำงา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นเ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ร็วและประหยัดทรัพยากร การเป็น Lazy ทำให้ Rust ไม่ต้องเสียเวลาสร้าง Collection ชั่วคราวในแต่ละขั้นตอนของ chain จนกว่าจะถึงจุดที่จำเป็นต้องใช้ผลลัพธ์จริงๆ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618892" y="7222193"/>
            <a:ext cx="2647654" cy="2625591"/>
          </a:xfrm>
          <a:custGeom>
            <a:avLst/>
            <a:gdLst/>
            <a:ahLst/>
            <a:cxnLst/>
            <a:rect r="r" b="b" t="t" l="l"/>
            <a:pathLst>
              <a:path h="2625591" w="2647654">
                <a:moveTo>
                  <a:pt x="0" y="0"/>
                </a:moveTo>
                <a:lnTo>
                  <a:pt x="2647654" y="0"/>
                </a:lnTo>
                <a:lnTo>
                  <a:pt x="2647654" y="2625590"/>
                </a:lnTo>
                <a:lnTo>
                  <a:pt x="0" y="26255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10866712" y="0"/>
                </a:moveTo>
                <a:lnTo>
                  <a:pt x="0" y="0"/>
                </a:lnTo>
                <a:lnTo>
                  <a:pt x="0" y="18893128"/>
                </a:lnTo>
                <a:lnTo>
                  <a:pt x="10866712" y="18893128"/>
                </a:lnTo>
                <a:lnTo>
                  <a:pt x="10866712" y="0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3825" y="597933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0" y="0"/>
                </a:lnTo>
                <a:lnTo>
                  <a:pt x="8569740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079" y="1028986"/>
            <a:ext cx="10324765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Common Mistakes 2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2257248" y="7007296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0"/>
                </a:moveTo>
                <a:lnTo>
                  <a:pt x="0" y="0"/>
                </a:lnTo>
                <a:lnTo>
                  <a:pt x="0" y="4713358"/>
                </a:lnTo>
                <a:lnTo>
                  <a:pt x="8569740" y="4713358"/>
                </a:lnTo>
                <a:lnTo>
                  <a:pt x="856974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29245">
            <a:off x="14731264" y="-2434364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2" y="0"/>
                </a:lnTo>
                <a:lnTo>
                  <a:pt x="5056072" y="6926128"/>
                </a:lnTo>
                <a:lnTo>
                  <a:pt x="0" y="6926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73079" y="2667713"/>
            <a:ext cx="6469424" cy="2712228"/>
            <a:chOff x="0" y="0"/>
            <a:chExt cx="1703881" cy="7143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829" y="2081093"/>
            <a:ext cx="5963674" cy="2614780"/>
            <a:chOff x="0" y="0"/>
            <a:chExt cx="7951566" cy="3486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1566" cy="3486374"/>
            </a:xfrm>
            <a:custGeom>
              <a:avLst/>
              <a:gdLst/>
              <a:ahLst/>
              <a:cxnLst/>
              <a:rect r="r" b="b" t="t" l="l"/>
              <a:pathLst>
                <a:path h="3486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25" r="18506" b="532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951566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สับสนระหว่าง iter(), iter_mut(), และ into_iter()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3079" y="5553638"/>
            <a:ext cx="6469424" cy="2712228"/>
            <a:chOff x="0" y="0"/>
            <a:chExt cx="1703881" cy="7143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8829" y="5056972"/>
            <a:ext cx="5963674" cy="1852780"/>
            <a:chOff x="0" y="0"/>
            <a:chExt cx="7951566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51566" cy="2470374"/>
            </a:xfrm>
            <a:custGeom>
              <a:avLst/>
              <a:gdLst/>
              <a:ahLst/>
              <a:cxnLst/>
              <a:rect r="r" b="b" t="t" l="l"/>
              <a:pathLst>
                <a:path h="2470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305" r="18506" b="340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951566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Why??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579690" y="2861785"/>
            <a:ext cx="7771353" cy="3191806"/>
          </a:xfrm>
          <a:custGeom>
            <a:avLst/>
            <a:gdLst/>
            <a:ahLst/>
            <a:cxnLst/>
            <a:rect r="r" b="b" t="t" l="l"/>
            <a:pathLst>
              <a:path h="3191806" w="7771353">
                <a:moveTo>
                  <a:pt x="0" y="0"/>
                </a:moveTo>
                <a:lnTo>
                  <a:pt x="7771353" y="0"/>
                </a:lnTo>
                <a:lnTo>
                  <a:pt x="7771353" y="3191806"/>
                </a:lnTo>
                <a:lnTo>
                  <a:pt x="0" y="3191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79690" y="6561729"/>
            <a:ext cx="8459363" cy="3548560"/>
          </a:xfrm>
          <a:custGeom>
            <a:avLst/>
            <a:gdLst/>
            <a:ahLst/>
            <a:cxnLst/>
            <a:rect r="r" b="b" t="t" l="l"/>
            <a:pathLst>
              <a:path h="3548560" w="8459363">
                <a:moveTo>
                  <a:pt x="0" y="0"/>
                </a:moveTo>
                <a:lnTo>
                  <a:pt x="8459363" y="0"/>
                </a:lnTo>
                <a:lnTo>
                  <a:pt x="8459363" y="3548560"/>
                </a:lnTo>
                <a:lnTo>
                  <a:pt x="0" y="35485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84076" y="2836938"/>
            <a:ext cx="4303924" cy="6421362"/>
          </a:xfrm>
          <a:custGeom>
            <a:avLst/>
            <a:gdLst/>
            <a:ahLst/>
            <a:cxnLst/>
            <a:rect r="r" b="b" t="t" l="l"/>
            <a:pathLst>
              <a:path h="6421362" w="4303924">
                <a:moveTo>
                  <a:pt x="0" y="0"/>
                </a:moveTo>
                <a:lnTo>
                  <a:pt x="4303924" y="0"/>
                </a:lnTo>
                <a:lnTo>
                  <a:pt x="4303924" y="6421362"/>
                </a:lnTo>
                <a:lnTo>
                  <a:pt x="0" y="64213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7247" y="514350"/>
            <a:ext cx="46824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95201" y="1441234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ข้อผิดพลาดที่พบบ่อย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4157" y="3590841"/>
            <a:ext cx="6147268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การเลือกใช้เมธอดสร้าง It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erator ผิดประเภท ทำให้เกิดปัญหา Ownership โดยเฉพาะการเผลอใช้ into_iter() ซึ่งจะย้ายกรรมสิทธิ์ (Move) ของตัวแปรไป ทำให้ไม่สามารถเรียกใช้ Collection ต้นทางได้อีก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25954" y="6338186"/>
            <a:ext cx="5963674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ter(): ยืมค่าแบบอ่า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นอย่างเดีย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ว (&amp;T)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.iter_mut(): ยืมค่าแบบแก้ไขได้ (&amp;mut 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.into_iter(): ย้ายกรรมสิทธิ์แบบสมบูรณ์ (T) เหมาะสำหรับตอนที่เราไม่ต้องการใช้ Collection ต้นทางอีกต่อไป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92865" y="2285473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incorrect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92865" y="5903130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correct code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52152" y="5027615"/>
            <a:ext cx="11167954" cy="5974855"/>
          </a:xfrm>
          <a:custGeom>
            <a:avLst/>
            <a:gdLst/>
            <a:ahLst/>
            <a:cxnLst/>
            <a:rect r="r" b="b" t="t" l="l"/>
            <a:pathLst>
              <a:path h="5974855" w="11167954">
                <a:moveTo>
                  <a:pt x="0" y="0"/>
                </a:moveTo>
                <a:lnTo>
                  <a:pt x="11167954" y="0"/>
                </a:lnTo>
                <a:lnTo>
                  <a:pt x="11167954" y="5974856"/>
                </a:lnTo>
                <a:lnTo>
                  <a:pt x="0" y="597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4751417" y="-1486253"/>
            <a:ext cx="12225790" cy="6540797"/>
          </a:xfrm>
          <a:custGeom>
            <a:avLst/>
            <a:gdLst/>
            <a:ahLst/>
            <a:cxnLst/>
            <a:rect r="r" b="b" t="t" l="l"/>
            <a:pathLst>
              <a:path h="6540797" w="12225790">
                <a:moveTo>
                  <a:pt x="12225790" y="6540798"/>
                </a:moveTo>
                <a:lnTo>
                  <a:pt x="0" y="6540798"/>
                </a:lnTo>
                <a:lnTo>
                  <a:pt x="0" y="0"/>
                </a:lnTo>
                <a:lnTo>
                  <a:pt x="12225790" y="0"/>
                </a:lnTo>
                <a:lnTo>
                  <a:pt x="12225790" y="654079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2737" y="376024"/>
            <a:ext cx="1806785" cy="1862665"/>
          </a:xfrm>
          <a:custGeom>
            <a:avLst/>
            <a:gdLst/>
            <a:ahLst/>
            <a:cxnLst/>
            <a:rect r="r" b="b" t="t" l="l"/>
            <a:pathLst>
              <a:path h="1862665" w="1806785">
                <a:moveTo>
                  <a:pt x="0" y="0"/>
                </a:moveTo>
                <a:lnTo>
                  <a:pt x="1806785" y="0"/>
                </a:lnTo>
                <a:lnTo>
                  <a:pt x="1806785" y="1862665"/>
                </a:lnTo>
                <a:lnTo>
                  <a:pt x="0" y="186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4096" y="214099"/>
            <a:ext cx="7479808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Challenge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6418" y="1839744"/>
            <a:ext cx="9139957" cy="1737480"/>
            <a:chOff x="0" y="0"/>
            <a:chExt cx="2407231" cy="457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7231" cy="457608"/>
            </a:xfrm>
            <a:custGeom>
              <a:avLst/>
              <a:gdLst/>
              <a:ahLst/>
              <a:cxnLst/>
              <a:rect r="r" b="b" t="t" l="l"/>
              <a:pathLst>
                <a:path h="457608" w="2407231">
                  <a:moveTo>
                    <a:pt x="43199" y="0"/>
                  </a:moveTo>
                  <a:lnTo>
                    <a:pt x="2364032" y="0"/>
                  </a:lnTo>
                  <a:cubicBezTo>
                    <a:pt x="2375489" y="0"/>
                    <a:pt x="2386477" y="4551"/>
                    <a:pt x="2394579" y="12653"/>
                  </a:cubicBezTo>
                  <a:cubicBezTo>
                    <a:pt x="2402680" y="20754"/>
                    <a:pt x="2407231" y="31742"/>
                    <a:pt x="2407231" y="43199"/>
                  </a:cubicBezTo>
                  <a:lnTo>
                    <a:pt x="2407231" y="414409"/>
                  </a:lnTo>
                  <a:cubicBezTo>
                    <a:pt x="2407231" y="425866"/>
                    <a:pt x="2402680" y="436854"/>
                    <a:pt x="2394579" y="444955"/>
                  </a:cubicBezTo>
                  <a:cubicBezTo>
                    <a:pt x="2386477" y="453057"/>
                    <a:pt x="2375489" y="457608"/>
                    <a:pt x="2364032" y="457608"/>
                  </a:cubicBezTo>
                  <a:lnTo>
                    <a:pt x="43199" y="457608"/>
                  </a:lnTo>
                  <a:cubicBezTo>
                    <a:pt x="31742" y="457608"/>
                    <a:pt x="20754" y="453057"/>
                    <a:pt x="12653" y="444955"/>
                  </a:cubicBezTo>
                  <a:cubicBezTo>
                    <a:pt x="4551" y="436854"/>
                    <a:pt x="0" y="425866"/>
                    <a:pt x="0" y="414409"/>
                  </a:cubicBezTo>
                  <a:lnTo>
                    <a:pt x="0" y="43199"/>
                  </a:lnTo>
                  <a:cubicBezTo>
                    <a:pt x="0" y="31742"/>
                    <a:pt x="4551" y="20754"/>
                    <a:pt x="12653" y="12653"/>
                  </a:cubicBezTo>
                  <a:cubicBezTo>
                    <a:pt x="20754" y="4551"/>
                    <a:pt x="31742" y="0"/>
                    <a:pt x="43199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07231" cy="48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792" y="1438092"/>
            <a:ext cx="8416204" cy="1852780"/>
            <a:chOff x="0" y="0"/>
            <a:chExt cx="11221605" cy="2470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305" r="42253" b="340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Ex1. ภารกิจส่งมาม่ากู้ภัยน้ำท่วม (mama rescue missions)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6418" y="3739149"/>
            <a:ext cx="9763834" cy="4717358"/>
          </a:xfrm>
          <a:custGeom>
            <a:avLst/>
            <a:gdLst/>
            <a:ahLst/>
            <a:cxnLst/>
            <a:rect r="r" b="b" t="t" l="l"/>
            <a:pathLst>
              <a:path h="4717358" w="9763834">
                <a:moveTo>
                  <a:pt x="0" y="0"/>
                </a:moveTo>
                <a:lnTo>
                  <a:pt x="9763834" y="0"/>
                </a:lnTo>
                <a:lnTo>
                  <a:pt x="9763834" y="4717358"/>
                </a:lnTo>
                <a:lnTo>
                  <a:pt x="0" y="47173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69253" y="3110137"/>
            <a:ext cx="7821504" cy="1451128"/>
            <a:chOff x="0" y="0"/>
            <a:chExt cx="2059985" cy="382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9985" cy="382190"/>
            </a:xfrm>
            <a:custGeom>
              <a:avLst/>
              <a:gdLst/>
              <a:ahLst/>
              <a:cxnLst/>
              <a:rect r="r" b="b" t="t" l="l"/>
              <a:pathLst>
                <a:path h="382190" w="2059985">
                  <a:moveTo>
                    <a:pt x="50481" y="0"/>
                  </a:moveTo>
                  <a:lnTo>
                    <a:pt x="2009504" y="0"/>
                  </a:lnTo>
                  <a:cubicBezTo>
                    <a:pt x="2022892" y="0"/>
                    <a:pt x="2035732" y="5319"/>
                    <a:pt x="2045199" y="14786"/>
                  </a:cubicBezTo>
                  <a:cubicBezTo>
                    <a:pt x="2054666" y="24253"/>
                    <a:pt x="2059985" y="37093"/>
                    <a:pt x="2059985" y="50481"/>
                  </a:cubicBezTo>
                  <a:lnTo>
                    <a:pt x="2059985" y="331709"/>
                  </a:lnTo>
                  <a:cubicBezTo>
                    <a:pt x="2059985" y="345097"/>
                    <a:pt x="2054666" y="357937"/>
                    <a:pt x="2045199" y="367405"/>
                  </a:cubicBezTo>
                  <a:cubicBezTo>
                    <a:pt x="2035732" y="376872"/>
                    <a:pt x="2022892" y="382190"/>
                    <a:pt x="2009504" y="382190"/>
                  </a:cubicBezTo>
                  <a:lnTo>
                    <a:pt x="50481" y="382190"/>
                  </a:lnTo>
                  <a:cubicBezTo>
                    <a:pt x="37093" y="382190"/>
                    <a:pt x="24253" y="376872"/>
                    <a:pt x="14786" y="367405"/>
                  </a:cubicBezTo>
                  <a:cubicBezTo>
                    <a:pt x="5319" y="357937"/>
                    <a:pt x="0" y="345097"/>
                    <a:pt x="0" y="331709"/>
                  </a:cubicBezTo>
                  <a:lnTo>
                    <a:pt x="0" y="50481"/>
                  </a:lnTo>
                  <a:cubicBezTo>
                    <a:pt x="0" y="37093"/>
                    <a:pt x="5319" y="24253"/>
                    <a:pt x="14786" y="14786"/>
                  </a:cubicBezTo>
                  <a:cubicBezTo>
                    <a:pt x="24253" y="5319"/>
                    <a:pt x="37093" y="0"/>
                    <a:pt x="50481" y="0"/>
                  </a:cubicBezTo>
                  <a:close/>
                </a:path>
              </a:pathLst>
            </a:custGeom>
            <a:solidFill>
              <a:srgbClr val="EDE6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59985" cy="41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79627" y="2708484"/>
            <a:ext cx="8416204" cy="1852780"/>
            <a:chOff x="0" y="0"/>
            <a:chExt cx="11221605" cy="24703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305" r="42253" b="340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คำถาม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17441" y="4691715"/>
            <a:ext cx="10856727" cy="1578902"/>
            <a:chOff x="0" y="0"/>
            <a:chExt cx="2859385" cy="4158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9385" cy="415842"/>
            </a:xfrm>
            <a:custGeom>
              <a:avLst/>
              <a:gdLst/>
              <a:ahLst/>
              <a:cxnLst/>
              <a:rect r="r" b="b" t="t" l="l"/>
              <a:pathLst>
                <a:path h="415842" w="2859385">
                  <a:moveTo>
                    <a:pt x="36368" y="0"/>
                  </a:moveTo>
                  <a:lnTo>
                    <a:pt x="2823017" y="0"/>
                  </a:lnTo>
                  <a:cubicBezTo>
                    <a:pt x="2832662" y="0"/>
                    <a:pt x="2841913" y="3832"/>
                    <a:pt x="2848733" y="10652"/>
                  </a:cubicBezTo>
                  <a:cubicBezTo>
                    <a:pt x="2855553" y="17472"/>
                    <a:pt x="2859385" y="26723"/>
                    <a:pt x="2859385" y="36368"/>
                  </a:cubicBezTo>
                  <a:lnTo>
                    <a:pt x="2859385" y="379474"/>
                  </a:lnTo>
                  <a:cubicBezTo>
                    <a:pt x="2859385" y="389120"/>
                    <a:pt x="2855553" y="398370"/>
                    <a:pt x="2848733" y="405191"/>
                  </a:cubicBezTo>
                  <a:cubicBezTo>
                    <a:pt x="2841913" y="412011"/>
                    <a:pt x="2832662" y="415842"/>
                    <a:pt x="2823017" y="415842"/>
                  </a:cubicBezTo>
                  <a:lnTo>
                    <a:pt x="36368" y="415842"/>
                  </a:lnTo>
                  <a:cubicBezTo>
                    <a:pt x="26723" y="415842"/>
                    <a:pt x="17472" y="412011"/>
                    <a:pt x="10652" y="405191"/>
                  </a:cubicBezTo>
                  <a:cubicBezTo>
                    <a:pt x="3832" y="398370"/>
                    <a:pt x="0" y="389120"/>
                    <a:pt x="0" y="379474"/>
                  </a:cubicBezTo>
                  <a:lnTo>
                    <a:pt x="0" y="36368"/>
                  </a:lnTo>
                  <a:cubicBezTo>
                    <a:pt x="0" y="26723"/>
                    <a:pt x="3832" y="17472"/>
                    <a:pt x="10652" y="10652"/>
                  </a:cubicBezTo>
                  <a:cubicBezTo>
                    <a:pt x="17472" y="3832"/>
                    <a:pt x="26723" y="0"/>
                    <a:pt x="36368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859385" cy="444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86939" y="4298931"/>
            <a:ext cx="8416204" cy="1852780"/>
            <a:chOff x="0" y="0"/>
            <a:chExt cx="11221605" cy="24703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4574" t="0" r="-24457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b="true" sz="2529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คำตอบ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406863" y="5568221"/>
            <a:ext cx="10469936" cy="391225"/>
          </a:xfrm>
          <a:custGeom>
            <a:avLst/>
            <a:gdLst/>
            <a:ahLst/>
            <a:cxnLst/>
            <a:rect r="r" b="b" t="t" l="l"/>
            <a:pathLst>
              <a:path h="391225" w="10469936">
                <a:moveTo>
                  <a:pt x="0" y="0"/>
                </a:moveTo>
                <a:lnTo>
                  <a:pt x="10469936" y="0"/>
                </a:lnTo>
                <a:lnTo>
                  <a:pt x="10469936" y="391225"/>
                </a:lnTo>
                <a:lnTo>
                  <a:pt x="0" y="3912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03660" y="514350"/>
            <a:ext cx="36667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496" y="2762872"/>
            <a:ext cx="9185680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สถานการณ์น้ำท่วมปีนี้หนักหน่วงมาก เราจึงมี V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ector ที่เก็บข้อมูลชื่อจังหวัดและระดับน้ำ (เซนติเมตร) ดังนี้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0325113" y="3962374"/>
            <a:ext cx="7509785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เมื่อโปรแกรมรันเสร็จ ผลลัพธ์ (Ou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tput) ที่แสดงบนหน้าจอจะเป็นข้อความว่าอะไรบ้าง?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7301715" y="7537300"/>
            <a:ext cx="10716293" cy="2582381"/>
            <a:chOff x="0" y="0"/>
            <a:chExt cx="2822398" cy="6801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22398" cy="680133"/>
            </a:xfrm>
            <a:custGeom>
              <a:avLst/>
              <a:gdLst/>
              <a:ahLst/>
              <a:cxnLst/>
              <a:rect r="r" b="b" t="t" l="l"/>
              <a:pathLst>
                <a:path h="680133" w="2822398">
                  <a:moveTo>
                    <a:pt x="36845" y="0"/>
                  </a:moveTo>
                  <a:lnTo>
                    <a:pt x="2785554" y="0"/>
                  </a:lnTo>
                  <a:cubicBezTo>
                    <a:pt x="2805902" y="0"/>
                    <a:pt x="2822398" y="16496"/>
                    <a:pt x="2822398" y="36845"/>
                  </a:cubicBezTo>
                  <a:lnTo>
                    <a:pt x="2822398" y="643289"/>
                  </a:lnTo>
                  <a:cubicBezTo>
                    <a:pt x="2822398" y="653060"/>
                    <a:pt x="2818517" y="662432"/>
                    <a:pt x="2811607" y="669342"/>
                  </a:cubicBezTo>
                  <a:cubicBezTo>
                    <a:pt x="2804697" y="676251"/>
                    <a:pt x="2795326" y="680133"/>
                    <a:pt x="2785554" y="680133"/>
                  </a:cubicBezTo>
                  <a:lnTo>
                    <a:pt x="36845" y="680133"/>
                  </a:lnTo>
                  <a:cubicBezTo>
                    <a:pt x="16496" y="680133"/>
                    <a:pt x="0" y="663637"/>
                    <a:pt x="0" y="643289"/>
                  </a:cubicBezTo>
                  <a:lnTo>
                    <a:pt x="0" y="36845"/>
                  </a:lnTo>
                  <a:cubicBezTo>
                    <a:pt x="0" y="16496"/>
                    <a:pt x="16496" y="0"/>
                    <a:pt x="36845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822398" cy="7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553242" y="6729275"/>
            <a:ext cx="2758989" cy="2758989"/>
          </a:xfrm>
          <a:custGeom>
            <a:avLst/>
            <a:gdLst/>
            <a:ahLst/>
            <a:cxnLst/>
            <a:rect r="r" b="b" t="t" l="l"/>
            <a:pathLst>
              <a:path h="2758989" w="2758989">
                <a:moveTo>
                  <a:pt x="0" y="0"/>
                </a:moveTo>
                <a:lnTo>
                  <a:pt x="2758989" y="0"/>
                </a:lnTo>
                <a:lnTo>
                  <a:pt x="2758989" y="2758989"/>
                </a:lnTo>
                <a:lnTo>
                  <a:pt x="0" y="27589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671213" y="7144516"/>
            <a:ext cx="8416204" cy="2233780"/>
            <a:chOff x="0" y="0"/>
            <a:chExt cx="11221605" cy="29783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4574" t="0" r="-244574" b="170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Explanation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539161" y="8286634"/>
            <a:ext cx="10364888" cy="190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โค้ดจะทำงานแบบ Lazy Evaluation โดยดึงข้อมูลมาทีละตัว: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Chiang Rai (150) -&gt; ผ่าน filter -&gt; เข้า map แปลงเป็นข้อความ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Phayao (80) -&gt; ไม่ผ่าน filter (ถูกเตะทิ้งทันที)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Chiang Mai (120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-&gt; ผ่าน filter -&gt; เข้า map แปลงเป็นข้อความ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Bangkok (15) -&gt; ไม่ผ่าน filter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สุดท้าย collect() จะรวบรวมข้อความที่ผ่านเข้ารอบทั้งหมดมาใส่กรอบเป็น Vector เดียวกัน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52152" y="5027615"/>
            <a:ext cx="11167954" cy="5974855"/>
          </a:xfrm>
          <a:custGeom>
            <a:avLst/>
            <a:gdLst/>
            <a:ahLst/>
            <a:cxnLst/>
            <a:rect r="r" b="b" t="t" l="l"/>
            <a:pathLst>
              <a:path h="5974855" w="11167954">
                <a:moveTo>
                  <a:pt x="0" y="0"/>
                </a:moveTo>
                <a:lnTo>
                  <a:pt x="11167954" y="0"/>
                </a:lnTo>
                <a:lnTo>
                  <a:pt x="11167954" y="5974856"/>
                </a:lnTo>
                <a:lnTo>
                  <a:pt x="0" y="597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4751417" y="-1486253"/>
            <a:ext cx="12225790" cy="6540797"/>
          </a:xfrm>
          <a:custGeom>
            <a:avLst/>
            <a:gdLst/>
            <a:ahLst/>
            <a:cxnLst/>
            <a:rect r="r" b="b" t="t" l="l"/>
            <a:pathLst>
              <a:path h="6540797" w="12225790">
                <a:moveTo>
                  <a:pt x="12225790" y="6540798"/>
                </a:moveTo>
                <a:lnTo>
                  <a:pt x="0" y="6540798"/>
                </a:lnTo>
                <a:lnTo>
                  <a:pt x="0" y="0"/>
                </a:lnTo>
                <a:lnTo>
                  <a:pt x="12225790" y="0"/>
                </a:lnTo>
                <a:lnTo>
                  <a:pt x="12225790" y="654079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2737" y="376024"/>
            <a:ext cx="1806785" cy="1862665"/>
          </a:xfrm>
          <a:custGeom>
            <a:avLst/>
            <a:gdLst/>
            <a:ahLst/>
            <a:cxnLst/>
            <a:rect r="r" b="b" t="t" l="l"/>
            <a:pathLst>
              <a:path h="1862665" w="1806785">
                <a:moveTo>
                  <a:pt x="0" y="0"/>
                </a:moveTo>
                <a:lnTo>
                  <a:pt x="1806785" y="0"/>
                </a:lnTo>
                <a:lnTo>
                  <a:pt x="1806785" y="1862665"/>
                </a:lnTo>
                <a:lnTo>
                  <a:pt x="0" y="186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4096" y="214099"/>
            <a:ext cx="7479808" cy="146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Challenge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6418" y="1839744"/>
            <a:ext cx="9139957" cy="1737480"/>
            <a:chOff x="0" y="0"/>
            <a:chExt cx="2407231" cy="457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7231" cy="457608"/>
            </a:xfrm>
            <a:custGeom>
              <a:avLst/>
              <a:gdLst/>
              <a:ahLst/>
              <a:cxnLst/>
              <a:rect r="r" b="b" t="t" l="l"/>
              <a:pathLst>
                <a:path h="457608" w="2407231">
                  <a:moveTo>
                    <a:pt x="43199" y="0"/>
                  </a:moveTo>
                  <a:lnTo>
                    <a:pt x="2364032" y="0"/>
                  </a:lnTo>
                  <a:cubicBezTo>
                    <a:pt x="2375489" y="0"/>
                    <a:pt x="2386477" y="4551"/>
                    <a:pt x="2394579" y="12653"/>
                  </a:cubicBezTo>
                  <a:cubicBezTo>
                    <a:pt x="2402680" y="20754"/>
                    <a:pt x="2407231" y="31742"/>
                    <a:pt x="2407231" y="43199"/>
                  </a:cubicBezTo>
                  <a:lnTo>
                    <a:pt x="2407231" y="414409"/>
                  </a:lnTo>
                  <a:cubicBezTo>
                    <a:pt x="2407231" y="425866"/>
                    <a:pt x="2402680" y="436854"/>
                    <a:pt x="2394579" y="444955"/>
                  </a:cubicBezTo>
                  <a:cubicBezTo>
                    <a:pt x="2386477" y="453057"/>
                    <a:pt x="2375489" y="457608"/>
                    <a:pt x="2364032" y="457608"/>
                  </a:cubicBezTo>
                  <a:lnTo>
                    <a:pt x="43199" y="457608"/>
                  </a:lnTo>
                  <a:cubicBezTo>
                    <a:pt x="31742" y="457608"/>
                    <a:pt x="20754" y="453057"/>
                    <a:pt x="12653" y="444955"/>
                  </a:cubicBezTo>
                  <a:cubicBezTo>
                    <a:pt x="4551" y="436854"/>
                    <a:pt x="0" y="425866"/>
                    <a:pt x="0" y="414409"/>
                  </a:cubicBezTo>
                  <a:lnTo>
                    <a:pt x="0" y="43199"/>
                  </a:lnTo>
                  <a:cubicBezTo>
                    <a:pt x="0" y="31742"/>
                    <a:pt x="4551" y="20754"/>
                    <a:pt x="12653" y="12653"/>
                  </a:cubicBezTo>
                  <a:cubicBezTo>
                    <a:pt x="20754" y="4551"/>
                    <a:pt x="31742" y="0"/>
                    <a:pt x="43199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07231" cy="48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792" y="1438092"/>
            <a:ext cx="8416204" cy="2233780"/>
            <a:chOff x="0" y="0"/>
            <a:chExt cx="11221605" cy="2978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13" r="42253" b="453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Ex2. รวมเหรียญทองเอเชียนเกมส์ 2026 (total gold coin)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5021" y="3202625"/>
            <a:ext cx="7821504" cy="2119569"/>
            <a:chOff x="0" y="0"/>
            <a:chExt cx="2059985" cy="558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9985" cy="558240"/>
            </a:xfrm>
            <a:custGeom>
              <a:avLst/>
              <a:gdLst/>
              <a:ahLst/>
              <a:cxnLst/>
              <a:rect r="r" b="b" t="t" l="l"/>
              <a:pathLst>
                <a:path h="558240" w="2059985">
                  <a:moveTo>
                    <a:pt x="50481" y="0"/>
                  </a:moveTo>
                  <a:lnTo>
                    <a:pt x="2009504" y="0"/>
                  </a:lnTo>
                  <a:cubicBezTo>
                    <a:pt x="2022892" y="0"/>
                    <a:pt x="2035732" y="5319"/>
                    <a:pt x="2045199" y="14786"/>
                  </a:cubicBezTo>
                  <a:cubicBezTo>
                    <a:pt x="2054666" y="24253"/>
                    <a:pt x="2059985" y="37093"/>
                    <a:pt x="2059985" y="50481"/>
                  </a:cubicBezTo>
                  <a:lnTo>
                    <a:pt x="2059985" y="507759"/>
                  </a:lnTo>
                  <a:cubicBezTo>
                    <a:pt x="2059985" y="535639"/>
                    <a:pt x="2037384" y="558240"/>
                    <a:pt x="2009504" y="558240"/>
                  </a:cubicBezTo>
                  <a:lnTo>
                    <a:pt x="50481" y="558240"/>
                  </a:lnTo>
                  <a:cubicBezTo>
                    <a:pt x="37093" y="558240"/>
                    <a:pt x="24253" y="552922"/>
                    <a:pt x="14786" y="543455"/>
                  </a:cubicBezTo>
                  <a:cubicBezTo>
                    <a:pt x="5319" y="533988"/>
                    <a:pt x="0" y="521148"/>
                    <a:pt x="0" y="507759"/>
                  </a:cubicBezTo>
                  <a:lnTo>
                    <a:pt x="0" y="50481"/>
                  </a:lnTo>
                  <a:cubicBezTo>
                    <a:pt x="0" y="37093"/>
                    <a:pt x="5319" y="24253"/>
                    <a:pt x="14786" y="14786"/>
                  </a:cubicBezTo>
                  <a:cubicBezTo>
                    <a:pt x="24253" y="5319"/>
                    <a:pt x="37093" y="0"/>
                    <a:pt x="50481" y="0"/>
                  </a:cubicBezTo>
                  <a:close/>
                </a:path>
              </a:pathLst>
            </a:custGeom>
            <a:solidFill>
              <a:srgbClr val="EDE6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59985" cy="58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55395" y="2800972"/>
            <a:ext cx="8416204" cy="1852780"/>
            <a:chOff x="0" y="0"/>
            <a:chExt cx="11221605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724" t="0" r="-18272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คำถาม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7496" y="3707015"/>
            <a:ext cx="9573883" cy="3678556"/>
          </a:xfrm>
          <a:custGeom>
            <a:avLst/>
            <a:gdLst/>
            <a:ahLst/>
            <a:cxnLst/>
            <a:rect r="r" b="b" t="t" l="l"/>
            <a:pathLst>
              <a:path h="3678556" w="9573883">
                <a:moveTo>
                  <a:pt x="0" y="0"/>
                </a:moveTo>
                <a:lnTo>
                  <a:pt x="9573883" y="0"/>
                </a:lnTo>
                <a:lnTo>
                  <a:pt x="9573883" y="3678556"/>
                </a:lnTo>
                <a:lnTo>
                  <a:pt x="0" y="36785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4410850" y="129439"/>
            <a:ext cx="2854472" cy="2854472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03660" y="514350"/>
            <a:ext cx="36667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7496" y="2762872"/>
            <a:ext cx="9185680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ในการแข่งขัน Aichi-Nagoya 2026 Asian Games ทีมชาติไทยคว้าเหรียญทองมาได้จากหลายกีฬา 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เรามี V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ector เก็บชนิดกีฬาและจำนวนเหรียญทองที่ได้ ดังนี้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881" y="4045336"/>
            <a:ext cx="7509785" cy="153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เมื่อโปรแกรมรันเสร็จ ผลลัพธ์ (Ou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tput) ที่แสดงบนหน้าจอจะเป็นข้อความว่าอะไรบ้าง?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0245021" y="5500100"/>
            <a:ext cx="7890802" cy="1578902"/>
            <a:chOff x="0" y="0"/>
            <a:chExt cx="2078236" cy="4158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8236" cy="415842"/>
            </a:xfrm>
            <a:custGeom>
              <a:avLst/>
              <a:gdLst/>
              <a:ahLst/>
              <a:cxnLst/>
              <a:rect r="r" b="b" t="t" l="l"/>
              <a:pathLst>
                <a:path h="415842" w="2078236">
                  <a:moveTo>
                    <a:pt x="50038" y="0"/>
                  </a:moveTo>
                  <a:lnTo>
                    <a:pt x="2028198" y="0"/>
                  </a:lnTo>
                  <a:cubicBezTo>
                    <a:pt x="2041469" y="0"/>
                    <a:pt x="2054196" y="5272"/>
                    <a:pt x="2063580" y="14656"/>
                  </a:cubicBezTo>
                  <a:cubicBezTo>
                    <a:pt x="2072964" y="24040"/>
                    <a:pt x="2078236" y="36767"/>
                    <a:pt x="2078236" y="50038"/>
                  </a:cubicBezTo>
                  <a:lnTo>
                    <a:pt x="2078236" y="365805"/>
                  </a:lnTo>
                  <a:cubicBezTo>
                    <a:pt x="2078236" y="379076"/>
                    <a:pt x="2072964" y="391803"/>
                    <a:pt x="2063580" y="401187"/>
                  </a:cubicBezTo>
                  <a:cubicBezTo>
                    <a:pt x="2054196" y="410571"/>
                    <a:pt x="2041469" y="415842"/>
                    <a:pt x="2028198" y="415842"/>
                  </a:cubicBezTo>
                  <a:lnTo>
                    <a:pt x="50038" y="415842"/>
                  </a:lnTo>
                  <a:cubicBezTo>
                    <a:pt x="36767" y="415842"/>
                    <a:pt x="24040" y="410571"/>
                    <a:pt x="14656" y="401187"/>
                  </a:cubicBezTo>
                  <a:cubicBezTo>
                    <a:pt x="5272" y="391803"/>
                    <a:pt x="0" y="379076"/>
                    <a:pt x="0" y="365805"/>
                  </a:cubicBezTo>
                  <a:lnTo>
                    <a:pt x="0" y="50038"/>
                  </a:lnTo>
                  <a:cubicBezTo>
                    <a:pt x="0" y="36767"/>
                    <a:pt x="5272" y="24040"/>
                    <a:pt x="14656" y="14656"/>
                  </a:cubicBezTo>
                  <a:cubicBezTo>
                    <a:pt x="24040" y="5272"/>
                    <a:pt x="36767" y="0"/>
                    <a:pt x="50038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078236" cy="444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445334" y="6289551"/>
            <a:ext cx="7460712" cy="352872"/>
          </a:xfrm>
          <a:custGeom>
            <a:avLst/>
            <a:gdLst/>
            <a:ahLst/>
            <a:cxnLst/>
            <a:rect r="r" b="b" t="t" l="l"/>
            <a:pathLst>
              <a:path h="352872" w="7460712">
                <a:moveTo>
                  <a:pt x="0" y="0"/>
                </a:moveTo>
                <a:lnTo>
                  <a:pt x="7460713" y="0"/>
                </a:lnTo>
                <a:lnTo>
                  <a:pt x="7460713" y="352871"/>
                </a:lnTo>
                <a:lnTo>
                  <a:pt x="0" y="352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676962" y="5054545"/>
            <a:ext cx="8416204" cy="1852780"/>
            <a:chOff x="0" y="0"/>
            <a:chExt cx="11221605" cy="24703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724" t="0" r="-18272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b="true" sz="2529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คำตอบ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50233" y="7492913"/>
            <a:ext cx="10716293" cy="2121099"/>
            <a:chOff x="0" y="0"/>
            <a:chExt cx="2822398" cy="5586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2398" cy="558643"/>
            </a:xfrm>
            <a:custGeom>
              <a:avLst/>
              <a:gdLst/>
              <a:ahLst/>
              <a:cxnLst/>
              <a:rect r="r" b="b" t="t" l="l"/>
              <a:pathLst>
                <a:path h="558643" w="2822398">
                  <a:moveTo>
                    <a:pt x="36845" y="0"/>
                  </a:moveTo>
                  <a:lnTo>
                    <a:pt x="2785554" y="0"/>
                  </a:lnTo>
                  <a:cubicBezTo>
                    <a:pt x="2805902" y="0"/>
                    <a:pt x="2822398" y="16496"/>
                    <a:pt x="2822398" y="36845"/>
                  </a:cubicBezTo>
                  <a:lnTo>
                    <a:pt x="2822398" y="521799"/>
                  </a:lnTo>
                  <a:cubicBezTo>
                    <a:pt x="2822398" y="531571"/>
                    <a:pt x="2818517" y="540942"/>
                    <a:pt x="2811607" y="547852"/>
                  </a:cubicBezTo>
                  <a:cubicBezTo>
                    <a:pt x="2804697" y="554762"/>
                    <a:pt x="2795326" y="558643"/>
                    <a:pt x="2785554" y="558643"/>
                  </a:cubicBezTo>
                  <a:lnTo>
                    <a:pt x="36845" y="558643"/>
                  </a:lnTo>
                  <a:cubicBezTo>
                    <a:pt x="16496" y="558643"/>
                    <a:pt x="0" y="542148"/>
                    <a:pt x="0" y="521799"/>
                  </a:cubicBezTo>
                  <a:lnTo>
                    <a:pt x="0" y="36845"/>
                  </a:lnTo>
                  <a:cubicBezTo>
                    <a:pt x="0" y="16496"/>
                    <a:pt x="16496" y="0"/>
                    <a:pt x="36845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822398" cy="587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32257" y="6465986"/>
            <a:ext cx="4221363" cy="3916204"/>
          </a:xfrm>
          <a:custGeom>
            <a:avLst/>
            <a:gdLst/>
            <a:ahLst/>
            <a:cxnLst/>
            <a:rect r="r" b="b" t="t" l="l"/>
            <a:pathLst>
              <a:path h="3916204" w="4221363">
                <a:moveTo>
                  <a:pt x="0" y="0"/>
                </a:moveTo>
                <a:lnTo>
                  <a:pt x="4221363" y="0"/>
                </a:lnTo>
                <a:lnTo>
                  <a:pt x="4221363" y="3916205"/>
                </a:lnTo>
                <a:lnTo>
                  <a:pt x="0" y="39162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7719731" y="7100128"/>
            <a:ext cx="8416204" cy="2233780"/>
            <a:chOff x="0" y="0"/>
            <a:chExt cx="11221605" cy="29783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44574" t="0" r="-244574" b="170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Explanation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587679" y="8242246"/>
            <a:ext cx="10364888" cy="137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โจทย์ข้อนี้เป็นการทดสอบความเข้าใจพารามิเตอร์ของ fold(initial_value, closure)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ใน Vector มีเหรียญรวมกันคือ 4 + 1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+ 5 + 3 = 13 เหรียญ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แต่เราตั้งค่าเริ่มต้น (ตัวแปร acc รอบแรก) ไว้ที่ 2 (อาจจะเป็นเหรียญทองที่ยกยอดมาจากเมื่อวาน)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ดังนั้นระบบจะนำ 2 เป็นตัวตั้ง แล้วค่อยๆ บวกเพิ่มเข้าไปทีละรายการจนครบ ลัพธ์สุทธิที่ได้จึงเป็น 2 + 13 = 15 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18893128" y="0"/>
                </a:moveTo>
                <a:lnTo>
                  <a:pt x="0" y="0"/>
                </a:lnTo>
                <a:lnTo>
                  <a:pt x="0" y="10755436"/>
                </a:lnTo>
                <a:lnTo>
                  <a:pt x="18893128" y="10755436"/>
                </a:lnTo>
                <a:lnTo>
                  <a:pt x="18893128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1281" y="387406"/>
            <a:ext cx="22050562" cy="9922753"/>
          </a:xfrm>
          <a:custGeom>
            <a:avLst/>
            <a:gdLst/>
            <a:ahLst/>
            <a:cxnLst/>
            <a:rect r="r" b="b" t="t" l="l"/>
            <a:pathLst>
              <a:path h="9922753" w="22050562">
                <a:moveTo>
                  <a:pt x="0" y="0"/>
                </a:moveTo>
                <a:lnTo>
                  <a:pt x="22050562" y="0"/>
                </a:lnTo>
                <a:lnTo>
                  <a:pt x="22050562" y="9922753"/>
                </a:lnTo>
                <a:lnTo>
                  <a:pt x="0" y="9922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12446" y="4871443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672296">
            <a:off x="3685985" y="646311"/>
            <a:ext cx="1236235" cy="1211511"/>
          </a:xfrm>
          <a:custGeom>
            <a:avLst/>
            <a:gdLst/>
            <a:ahLst/>
            <a:cxnLst/>
            <a:rect r="r" b="b" t="t" l="l"/>
            <a:pathLst>
              <a:path h="1211511" w="1236235">
                <a:moveTo>
                  <a:pt x="0" y="0"/>
                </a:moveTo>
                <a:lnTo>
                  <a:pt x="1236235" y="0"/>
                </a:lnTo>
                <a:lnTo>
                  <a:pt x="1236235" y="1211511"/>
                </a:lnTo>
                <a:lnTo>
                  <a:pt x="0" y="121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0137">
            <a:off x="-598579" y="5529595"/>
            <a:ext cx="2470671" cy="2509682"/>
          </a:xfrm>
          <a:custGeom>
            <a:avLst/>
            <a:gdLst/>
            <a:ahLst/>
            <a:cxnLst/>
            <a:rect r="r" b="b" t="t" l="l"/>
            <a:pathLst>
              <a:path h="2509682" w="2470671">
                <a:moveTo>
                  <a:pt x="0" y="0"/>
                </a:moveTo>
                <a:lnTo>
                  <a:pt x="2470672" y="0"/>
                </a:lnTo>
                <a:lnTo>
                  <a:pt x="2470672" y="2509682"/>
                </a:lnTo>
                <a:lnTo>
                  <a:pt x="0" y="2509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6757" y="2489751"/>
            <a:ext cx="17366367" cy="59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 is Lazy = ยังไม่ประมวลผลจนกว่าจะถูกใช้งาน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iter() = ยืมข้อมูล ต้นฉบับสามารถนำไปใช้งานต่อได้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map() = แปลงข้อมูลแต่ละตัว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filter() = เก็บเฉพาะข้อมูลที่ตรงเงื่อนไข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fold() = รวมข้อมูลทั้งหมดให้เหลือค่าเดียว และ Consume Iterator (กลืนแล้วเอาไปใช้ไม่ได้)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collect() = สร้าง Collection ต้องรู้ชนิดปลายทาง เช่น Vec&lt;_&gt;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Closure = ฟังก์ชันไม่ระบุชื่อ ใช้กับ map, filter, fold ได้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 Chain ได้ เช่น iter → map → filter → collect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เกี่ยวข้องกับหัวข้อ collection โดยตรงเพราะ ต้องแปลงจาก collection → iterator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6757" y="438101"/>
            <a:ext cx="7977683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Key Takeaways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103147" y="795348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1" y="0"/>
                </a:lnTo>
                <a:lnTo>
                  <a:pt x="8569741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2786229" y="-1327979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4713358"/>
                </a:moveTo>
                <a:lnTo>
                  <a:pt x="0" y="4713358"/>
                </a:lnTo>
                <a:lnTo>
                  <a:pt x="0" y="0"/>
                </a:lnTo>
                <a:lnTo>
                  <a:pt x="8569740" y="0"/>
                </a:lnTo>
                <a:lnTo>
                  <a:pt x="8569740" y="471335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2700000">
            <a:off x="16298247" y="1645703"/>
            <a:ext cx="1922106" cy="1952455"/>
          </a:xfrm>
          <a:custGeom>
            <a:avLst/>
            <a:gdLst/>
            <a:ahLst/>
            <a:cxnLst/>
            <a:rect r="r" b="b" t="t" l="l"/>
            <a:pathLst>
              <a:path h="1952455" w="1922106">
                <a:moveTo>
                  <a:pt x="1922106" y="1952455"/>
                </a:moveTo>
                <a:lnTo>
                  <a:pt x="0" y="1952455"/>
                </a:lnTo>
                <a:lnTo>
                  <a:pt x="0" y="0"/>
                </a:lnTo>
                <a:lnTo>
                  <a:pt x="1922106" y="0"/>
                </a:lnTo>
                <a:lnTo>
                  <a:pt x="1922106" y="195245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80178" y="849714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สรุปสิ่งที่ควรจำ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04083" y="3856721"/>
            <a:ext cx="15963329" cy="6784415"/>
          </a:xfrm>
          <a:custGeom>
            <a:avLst/>
            <a:gdLst/>
            <a:ahLst/>
            <a:cxnLst/>
            <a:rect r="r" b="b" t="t" l="l"/>
            <a:pathLst>
              <a:path h="6784415" w="15963329">
                <a:moveTo>
                  <a:pt x="0" y="0"/>
                </a:moveTo>
                <a:lnTo>
                  <a:pt x="15963330" y="0"/>
                </a:lnTo>
                <a:lnTo>
                  <a:pt x="15963330" y="6784415"/>
                </a:lnTo>
                <a:lnTo>
                  <a:pt x="0" y="6784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908585" y="5197423"/>
            <a:ext cx="15680609" cy="6664259"/>
          </a:xfrm>
          <a:custGeom>
            <a:avLst/>
            <a:gdLst/>
            <a:ahLst/>
            <a:cxnLst/>
            <a:rect r="r" b="b" t="t" l="l"/>
            <a:pathLst>
              <a:path h="6664259" w="15680609">
                <a:moveTo>
                  <a:pt x="15680609" y="0"/>
                </a:moveTo>
                <a:lnTo>
                  <a:pt x="0" y="0"/>
                </a:lnTo>
                <a:lnTo>
                  <a:pt x="0" y="6664259"/>
                </a:lnTo>
                <a:lnTo>
                  <a:pt x="15680609" y="6664259"/>
                </a:lnTo>
                <a:lnTo>
                  <a:pt x="1568060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10435">
            <a:off x="269433" y="1810469"/>
            <a:ext cx="1518533" cy="1606913"/>
          </a:xfrm>
          <a:custGeom>
            <a:avLst/>
            <a:gdLst/>
            <a:ahLst/>
            <a:cxnLst/>
            <a:rect r="r" b="b" t="t" l="l"/>
            <a:pathLst>
              <a:path h="1606913" w="1518533">
                <a:moveTo>
                  <a:pt x="1518534" y="0"/>
                </a:moveTo>
                <a:lnTo>
                  <a:pt x="0" y="0"/>
                </a:lnTo>
                <a:lnTo>
                  <a:pt x="0" y="1606914"/>
                </a:lnTo>
                <a:lnTo>
                  <a:pt x="1518534" y="1606914"/>
                </a:lnTo>
                <a:lnTo>
                  <a:pt x="151853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030" y="574198"/>
            <a:ext cx="16067940" cy="8998046"/>
          </a:xfrm>
          <a:custGeom>
            <a:avLst/>
            <a:gdLst/>
            <a:ahLst/>
            <a:cxnLst/>
            <a:rect r="r" b="b" t="t" l="l"/>
            <a:pathLst>
              <a:path h="8998046" w="16067940">
                <a:moveTo>
                  <a:pt x="0" y="0"/>
                </a:moveTo>
                <a:lnTo>
                  <a:pt x="16067940" y="0"/>
                </a:lnTo>
                <a:lnTo>
                  <a:pt x="16067940" y="8998046"/>
                </a:lnTo>
                <a:lnTo>
                  <a:pt x="0" y="8998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011983">
            <a:off x="17047918" y="3060221"/>
            <a:ext cx="1025650" cy="1085344"/>
          </a:xfrm>
          <a:custGeom>
            <a:avLst/>
            <a:gdLst/>
            <a:ahLst/>
            <a:cxnLst/>
            <a:rect r="r" b="b" t="t" l="l"/>
            <a:pathLst>
              <a:path h="1085344" w="1025650">
                <a:moveTo>
                  <a:pt x="1025651" y="0"/>
                </a:moveTo>
                <a:lnTo>
                  <a:pt x="0" y="0"/>
                </a:lnTo>
                <a:lnTo>
                  <a:pt x="0" y="1085344"/>
                </a:lnTo>
                <a:lnTo>
                  <a:pt x="1025651" y="1085344"/>
                </a:lnTo>
                <a:lnTo>
                  <a:pt x="102565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3489" y="2810095"/>
            <a:ext cx="13028016" cy="559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1) R</a:t>
            </a: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ust Foundation. Iterator Trait — Rust Standard Library Documentation.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doc.rust-lang.org/std/iter/trait.Iterator.html"/>
              </a:rPr>
              <a:t>https://doc.rust-lang.org/std/iter/trait.Iterator.html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2) Rust Foundation. Iterators — The Rust Programming Language.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doc.rust-lang.org/book/ch13-02-iterators.html"/>
              </a:rPr>
              <a:t>https://doc.rust-lang.org/book/ch13-02-iterators.html 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3) Rust Foundation. Closures — The Rust Programming Language.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doc.rust-lang.org/book/ch13-01-closures.html"/>
              </a:rPr>
              <a:t>https://doc.rust-lang.org/book/ch13-01-closures.html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4)GeeksforGeeks. Rust - Higher Order Functions.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geeksforgeeks.org/rust/rust-higher-order-functions/"/>
              </a:rPr>
              <a:t>https://www.geeksforgeeks.org/rust/rust-higher-order-functions/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5)Crust of Rust: Iterators - Jon Gjengset.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youtube.com/watch?v=yozQ9C69pNs"/>
              </a:rPr>
              <a:t>https://www.youtube.com/watch?v=yozQ9C69pNs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6)82: Iterators in Rust are Awesome - Rustfully.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2" tooltip="https://www.youtube.com/watch?v=BEPhAIkw6x8"/>
              </a:rPr>
              <a:t>https://www.youtube.com/watch?v=BEPhAIkw6x8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9499" y="412273"/>
            <a:ext cx="7209002" cy="146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07527" y="3165257"/>
            <a:ext cx="8927215" cy="218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55"/>
              </a:lnSpc>
            </a:pPr>
            <a:r>
              <a:rPr lang="en-US" sz="18203">
                <a:solidFill>
                  <a:srgbClr val="F9E5A5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Q&amp;A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3681" y="5778493"/>
            <a:ext cx="10534907" cy="197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Group 20 - Iterators &amp; Higher-Order Programming 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DAHW2FFJWAg</dc:identifier>
  <dcterms:modified xsi:type="dcterms:W3CDTF">2011-08-01T06:04:30Z</dcterms:modified>
  <cp:revision>1</cp:revision>
  <dc:title>517321 PRINCIPLES OF PROGRAMMING LANGUAGES</dc:title>
</cp:coreProperties>
</file>